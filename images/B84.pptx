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456E-6A18-8F5D-9C30-33CC2A423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16D61-087A-4DF6-045C-1189FE7BF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3E5AB-9F0A-7051-AF60-5BCFD94A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3BCD9-26B8-C8D9-B73C-B9E0EB1C8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1DD1E-F3B1-6BE6-D3E0-8F9B0964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76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1EB34-8D14-8B5B-DDE4-AF97C8F5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7AA83-BE90-D84F-88C8-AC8B8DDA0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D177A-322F-F755-377F-EE900C84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D85E2-EA9C-B707-CECC-504CA1779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D5DA3-BA02-DC80-EB1B-C7B1CE24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08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1F8F-E0E5-04AE-0A97-7C4C42B5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79091-1A45-F9A1-30C5-550CD2D6C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D0A04-9383-484C-25EA-0E2411AC1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41B0A-ABC8-F15F-0C09-5F82D4325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303F-3C69-DBF8-7293-2E21F3D12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689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C6CB-9566-D78D-57D7-FE9C18B4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97723-B25B-8785-1AEE-F23B7F19B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796F4-CDDF-72DA-DCD4-B6AE9FEC1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4D0FE-3DDB-C329-40D5-FDC6F44F4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CCEC9-B6FE-1B23-F089-7A86578BE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5AE36-05B5-FBD1-5B44-83EC54E1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02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1010-3A2F-EFFB-0F1B-98D5FA2C4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29F72-2FB8-899B-6E70-FEAB4591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C511C-465A-6516-1422-8025266A7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75B7B-8AFA-AA50-4A82-FFCCF7ADA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5EDF2F-BEA3-CD83-19A2-693E90659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85ABA1-68A7-F885-2ADD-58B1DC11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DCDEF4-AD14-6051-1ADF-5D5A1359F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0166D3-1FE9-76D7-E260-4686B2C5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562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5164E-B6A9-E2D4-C457-37644EE7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BD6514-D959-5B03-FCE6-200F74D8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1F386-11AF-E63E-C717-9612CA63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7DF29-A67B-51AD-8E8F-E05DE110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33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F1416-88C3-08D6-D9A4-85C48706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2ED79-6003-1C2E-6FB6-5E46E8C8F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D43CD-24FD-B2B7-9B6A-FD40DA7C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00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8214-56E0-2FD9-188E-139999262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66536-238F-D4C6-BB6D-B5AC47CC1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77632-D245-68F5-1840-122B3EDC7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52E55-A4D3-B699-AC98-91E1FF8C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CC4FA-EDB6-3CB8-3C0C-DDDD1CAF9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407C9-36F2-C78F-B805-B162DC4F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62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F7A1-A0D2-0EC3-C2FF-A810EED8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D86FF9-9DAF-96A4-6F3B-57506E62A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94887-6055-1C5C-ABF4-559A3C5E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CF48E-2E7B-5093-A2B4-F9DA5416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8D7DD-5949-BDCD-2F23-18FC38E7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30075-F894-E716-4808-648FE9CB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18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3B0C-DFA1-F36A-A18F-2504E10D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13FB4-B784-22F4-9076-2DF0D2079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F29A3-6A30-E4A4-E808-9A215B1A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B776C-8AD8-8AAF-C061-CCF7A2495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7252-15BE-7359-75A7-8D92E1DD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25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77553-34B1-14BE-2E70-564B7B135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ACD78-F4DF-840B-DA45-C976A9C0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DF154-99D0-1529-88A8-49EE139C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F2B5D-F1FE-D0D1-6100-90AA4278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8063A-28DF-B3CE-982A-FFFBAB0F0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630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F6045C-3C19-B5FC-2FE1-C43BFBE97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6062C-CEC5-374F-D8EB-507688448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ACD5D-F4DA-AB5C-13B5-E5E594CC2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C8EA4-C0E9-4106-9115-B054FBD87F8B}" type="datetimeFigureOut">
              <a:rPr lang="en-GB" smtClean="0"/>
              <a:t>14/02/2026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B9DBD-04CC-AA92-D545-07C84A0B87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D9FF3-D256-D4C6-04FB-B447FC27D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84C3B5-88C9-4CCA-BABE-F6218F94B5B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04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8" Type="http://schemas.openxmlformats.org/officeDocument/2006/relationships/image" Target="../media/image104.png"/><Relationship Id="rId26" Type="http://schemas.openxmlformats.org/officeDocument/2006/relationships/image" Target="../media/image117.png"/><Relationship Id="rId3" Type="http://schemas.openxmlformats.org/officeDocument/2006/relationships/image" Target="../media/image2.png"/><Relationship Id="rId21" Type="http://schemas.openxmlformats.org/officeDocument/2006/relationships/image" Target="../media/image107.png"/><Relationship Id="rId7" Type="http://schemas.openxmlformats.org/officeDocument/2006/relationships/image" Target="../media/image6.svg"/><Relationship Id="rId17" Type="http://schemas.openxmlformats.org/officeDocument/2006/relationships/image" Target="../media/image103.png"/><Relationship Id="rId25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29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24" Type="http://schemas.openxmlformats.org/officeDocument/2006/relationships/image" Target="../media/image115.png"/><Relationship Id="rId5" Type="http://schemas.openxmlformats.org/officeDocument/2006/relationships/image" Target="../media/image4.png"/><Relationship Id="rId15" Type="http://schemas.openxmlformats.org/officeDocument/2006/relationships/image" Target="../media/image97.png"/><Relationship Id="rId23" Type="http://schemas.openxmlformats.org/officeDocument/2006/relationships/image" Target="../media/image109.png"/><Relationship Id="rId28" Type="http://schemas.openxmlformats.org/officeDocument/2006/relationships/image" Target="../media/image10.png"/><Relationship Id="rId19" Type="http://schemas.openxmlformats.org/officeDocument/2006/relationships/image" Target="../media/image105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08.png"/><Relationship Id="rId27" Type="http://schemas.openxmlformats.org/officeDocument/2006/relationships/image" Target="../media/image118.png"/><Relationship Id="rId30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svg"/><Relationship Id="rId7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6.png"/><Relationship Id="rId5" Type="http://schemas.openxmlformats.org/officeDocument/2006/relationships/image" Target="../media/image8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hteck: abgerundete Ecken 249">
            <a:extLst>
              <a:ext uri="{FF2B5EF4-FFF2-40B4-BE49-F238E27FC236}">
                <a16:creationId xmlns:a16="http://schemas.microsoft.com/office/drawing/2014/main" id="{224F6FDB-B695-ED20-E331-DEDA65C868AA}"/>
              </a:ext>
            </a:extLst>
          </p:cNvPr>
          <p:cNvSpPr/>
          <p:nvPr/>
        </p:nvSpPr>
        <p:spPr>
          <a:xfrm>
            <a:off x="2878413" y="1474200"/>
            <a:ext cx="2639832" cy="3145879"/>
          </a:xfrm>
          <a:prstGeom prst="roundRect">
            <a:avLst>
              <a:gd name="adj" fmla="val 9596"/>
            </a:avLst>
          </a:prstGeom>
          <a:solidFill>
            <a:srgbClr val="ECF1F4"/>
          </a:solidFill>
          <a:ln w="12700" cap="flat" cmpd="sng" algn="ctr">
            <a:noFill/>
            <a:prstDash val="solid"/>
            <a:miter lim="800000"/>
          </a:ln>
          <a:effectLst>
            <a:softEdge rad="63500"/>
          </a:effectLst>
        </p:spPr>
        <p:txBody>
          <a:bodyPr lIns="0" tIns="0" rIns="0" bIns="0"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rgbClr val="507189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2" name="Rechteck: abgerundete Ecken 248">
            <a:extLst>
              <a:ext uri="{FF2B5EF4-FFF2-40B4-BE49-F238E27FC236}">
                <a16:creationId xmlns:a16="http://schemas.microsoft.com/office/drawing/2014/main" id="{94109F53-17B3-D5AC-DD8E-A3B5A5C2E148}"/>
              </a:ext>
            </a:extLst>
          </p:cNvPr>
          <p:cNvSpPr/>
          <p:nvPr/>
        </p:nvSpPr>
        <p:spPr>
          <a:xfrm>
            <a:off x="7461448" y="1090798"/>
            <a:ext cx="1665231" cy="4912847"/>
          </a:xfrm>
          <a:prstGeom prst="roundRect">
            <a:avLst>
              <a:gd name="adj" fmla="val 9596"/>
            </a:avLst>
          </a:prstGeom>
          <a:solidFill>
            <a:srgbClr val="ECF1F4"/>
          </a:solidFill>
          <a:ln w="12700" cap="flat" cmpd="sng" algn="ctr">
            <a:noFill/>
            <a:prstDash val="solid"/>
            <a:miter lim="800000"/>
          </a:ln>
          <a:effectLst>
            <a:softEdge rad="63500"/>
          </a:effectLst>
        </p:spPr>
        <p:txBody>
          <a:bodyPr lIns="0" tIns="0" rIns="0" bIns="0"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rgbClr val="507189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aphicFrame>
        <p:nvGraphicFramePr>
          <p:cNvPr id="143" name="Tabelle 168">
            <a:extLst>
              <a:ext uri="{FF2B5EF4-FFF2-40B4-BE49-F238E27FC236}">
                <a16:creationId xmlns:a16="http://schemas.microsoft.com/office/drawing/2014/main" id="{5445EE53-75DC-889C-815E-2CB3FB1D3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739790"/>
              </p:ext>
            </p:extLst>
          </p:nvPr>
        </p:nvGraphicFramePr>
        <p:xfrm>
          <a:off x="3046903" y="2676085"/>
          <a:ext cx="1784207" cy="1554735"/>
        </p:xfrm>
        <a:graphic>
          <a:graphicData uri="http://schemas.openxmlformats.org/drawingml/2006/table">
            <a:tbl>
              <a:tblPr firstRow="1" bandRow="1"/>
              <a:tblGrid>
                <a:gridCol w="502026">
                  <a:extLst>
                    <a:ext uri="{9D8B030D-6E8A-4147-A177-3AD203B41FA5}">
                      <a16:colId xmlns:a16="http://schemas.microsoft.com/office/drawing/2014/main" val="2618848436"/>
                    </a:ext>
                  </a:extLst>
                </a:gridCol>
                <a:gridCol w="365910">
                  <a:extLst>
                    <a:ext uri="{9D8B030D-6E8A-4147-A177-3AD203B41FA5}">
                      <a16:colId xmlns:a16="http://schemas.microsoft.com/office/drawing/2014/main" val="341809399"/>
                    </a:ext>
                  </a:extLst>
                </a:gridCol>
                <a:gridCol w="916271">
                  <a:extLst>
                    <a:ext uri="{9D8B030D-6E8A-4147-A177-3AD203B41FA5}">
                      <a16:colId xmlns:a16="http://schemas.microsoft.com/office/drawing/2014/main" val="815471737"/>
                    </a:ext>
                  </a:extLst>
                </a:gridCol>
              </a:tblGrid>
              <a:tr h="310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de-DE" sz="1200" b="0" dirty="0">
                          <a:solidFill>
                            <a:srgbClr val="000000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Basis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de-DE" sz="1200" b="0" dirty="0">
                          <a:solidFill>
                            <a:srgbClr val="000000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Bit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de-DE" sz="1200" b="0" dirty="0" err="1">
                          <a:solidFill>
                            <a:srgbClr val="000000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Polarization</a:t>
                      </a:r>
                      <a:endParaRPr lang="de-DE" sz="1200" b="0" dirty="0">
                        <a:solidFill>
                          <a:srgbClr val="000000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550108"/>
                  </a:ext>
                </a:extLst>
              </a:tr>
              <a:tr h="310947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endParaRPr lang="de-DE" sz="1200" b="0" dirty="0">
                        <a:solidFill>
                          <a:srgbClr val="000000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de-DE" sz="1200" b="0" dirty="0">
                          <a:solidFill>
                            <a:srgbClr val="000000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de-DE" sz="1200" b="0" dirty="0">
                        <a:solidFill>
                          <a:srgbClr val="000000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056539"/>
                  </a:ext>
                </a:extLst>
              </a:tr>
              <a:tr h="310947">
                <a:tc vMerge="1">
                  <a:txBody>
                    <a:bodyPr/>
                    <a:lstStyle/>
                    <a:p>
                      <a:endParaRPr lang="de-DE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de-DE" sz="1200" b="0" dirty="0">
                          <a:solidFill>
                            <a:srgbClr val="000000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de-DE" sz="1200" b="0" dirty="0">
                        <a:solidFill>
                          <a:srgbClr val="000000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035622"/>
                  </a:ext>
                </a:extLst>
              </a:tr>
              <a:tr h="310947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endParaRPr lang="de-DE" sz="1200" b="0" dirty="0">
                        <a:solidFill>
                          <a:srgbClr val="000000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de-DE" sz="1200" b="0" dirty="0">
                          <a:solidFill>
                            <a:srgbClr val="000000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de-DE" sz="1200" b="0" dirty="0">
                        <a:solidFill>
                          <a:srgbClr val="000000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178782"/>
                  </a:ext>
                </a:extLst>
              </a:tr>
              <a:tr h="310947">
                <a:tc vMerge="1">
                  <a:txBody>
                    <a:bodyPr/>
                    <a:lstStyle/>
                    <a:p>
                      <a:endParaRPr lang="de-DE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de-DE" sz="1200" b="0" dirty="0">
                          <a:solidFill>
                            <a:srgbClr val="000000"/>
                          </a:solidFill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de-DE" sz="1200" b="0" dirty="0">
                        <a:solidFill>
                          <a:srgbClr val="000000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63013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5">
                <a:extLst>
                  <a:ext uri="{FF2B5EF4-FFF2-40B4-BE49-F238E27FC236}">
                    <a16:creationId xmlns:a16="http://schemas.microsoft.com/office/drawing/2014/main" id="{E486C8B0-A560-1617-4F53-2D29527A6728}"/>
                  </a:ext>
                </a:extLst>
              </p:cNvPr>
              <p:cNvSpPr txBox="1"/>
              <p:nvPr/>
            </p:nvSpPr>
            <p:spPr>
              <a:xfrm>
                <a:off x="4243289" y="2954071"/>
                <a:ext cx="3433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33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>
                          <a:solidFill>
                            <a:srgbClr val="69B2E7"/>
                          </a:solidFill>
                          <a:latin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GB" b="1" dirty="0">
                  <a:solidFill>
                    <a:srgbClr val="69B2E7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</p:txBody>
          </p:sp>
        </mc:Choice>
        <mc:Fallback xmlns="">
          <p:sp>
            <p:nvSpPr>
              <p:cNvPr id="144" name="TextBox 15">
                <a:extLst>
                  <a:ext uri="{FF2B5EF4-FFF2-40B4-BE49-F238E27FC236}">
                    <a16:creationId xmlns:a16="http://schemas.microsoft.com/office/drawing/2014/main" id="{E486C8B0-A560-1617-4F53-2D29527A6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289" y="2954071"/>
                <a:ext cx="34336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6">
                <a:extLst>
                  <a:ext uri="{FF2B5EF4-FFF2-40B4-BE49-F238E27FC236}">
                    <a16:creationId xmlns:a16="http://schemas.microsoft.com/office/drawing/2014/main" id="{5C171468-EE2F-719A-5F83-7A26AE5B0972}"/>
                  </a:ext>
                </a:extLst>
              </p:cNvPr>
              <p:cNvSpPr txBox="1"/>
              <p:nvPr/>
            </p:nvSpPr>
            <p:spPr>
              <a:xfrm>
                <a:off x="4200009" y="3269044"/>
                <a:ext cx="429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33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>
                          <a:solidFill>
                            <a:srgbClr val="042C58">
                              <a:lumMod val="75000"/>
                              <a:lumOff val="25000"/>
                            </a:srgb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GB" dirty="0">
                  <a:solidFill>
                    <a:srgbClr val="042C58">
                      <a:lumMod val="75000"/>
                      <a:lumOff val="25000"/>
                    </a:srgbClr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</p:txBody>
          </p:sp>
        </mc:Choice>
        <mc:Fallback xmlns="">
          <p:sp>
            <p:nvSpPr>
              <p:cNvPr id="145" name="TextBox 16">
                <a:extLst>
                  <a:ext uri="{FF2B5EF4-FFF2-40B4-BE49-F238E27FC236}">
                    <a16:creationId xmlns:a16="http://schemas.microsoft.com/office/drawing/2014/main" id="{5C171468-EE2F-719A-5F83-7A26AE5B0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009" y="3269044"/>
                <a:ext cx="4299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7">
                <a:extLst>
                  <a:ext uri="{FF2B5EF4-FFF2-40B4-BE49-F238E27FC236}">
                    <a16:creationId xmlns:a16="http://schemas.microsoft.com/office/drawing/2014/main" id="{4B2445F7-E995-5CC6-8C73-0008C4139386}"/>
                  </a:ext>
                </a:extLst>
              </p:cNvPr>
              <p:cNvSpPr txBox="1"/>
              <p:nvPr/>
            </p:nvSpPr>
            <p:spPr>
              <a:xfrm>
                <a:off x="4248801" y="3583384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33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rgbClr val="E31B4C"/>
                          </a:solidFill>
                          <a:latin typeface="Cambria Math" panose="02040503050406030204" pitchFamily="18" charset="0"/>
                        </a:rPr>
                        <m:t>↗</m:t>
                      </m:r>
                    </m:oMath>
                  </m:oMathPara>
                </a14:m>
                <a:endParaRPr lang="en-GB" dirty="0">
                  <a:solidFill>
                    <a:srgbClr val="E31B4C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</p:txBody>
          </p:sp>
        </mc:Choice>
        <mc:Fallback xmlns="">
          <p:sp>
            <p:nvSpPr>
              <p:cNvPr id="146" name="TextBox 17">
                <a:extLst>
                  <a:ext uri="{FF2B5EF4-FFF2-40B4-BE49-F238E27FC236}">
                    <a16:creationId xmlns:a16="http://schemas.microsoft.com/office/drawing/2014/main" id="{4B2445F7-E995-5CC6-8C73-0008C4139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801" y="3583384"/>
                <a:ext cx="38664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8">
                <a:extLst>
                  <a:ext uri="{FF2B5EF4-FFF2-40B4-BE49-F238E27FC236}">
                    <a16:creationId xmlns:a16="http://schemas.microsoft.com/office/drawing/2014/main" id="{27CA4837-0C62-CC11-3868-88E33F40F8E3}"/>
                  </a:ext>
                </a:extLst>
              </p:cNvPr>
              <p:cNvSpPr txBox="1"/>
              <p:nvPr/>
            </p:nvSpPr>
            <p:spPr>
              <a:xfrm>
                <a:off x="4243290" y="3898357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33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>
                          <a:solidFill>
                            <a:srgbClr val="FFA251"/>
                          </a:solidFill>
                          <a:latin typeface="Cambria Math" panose="02040503050406030204" pitchFamily="18" charset="0"/>
                        </a:rPr>
                        <m:t>↖</m:t>
                      </m:r>
                    </m:oMath>
                  </m:oMathPara>
                </a14:m>
                <a:endParaRPr lang="en-GB" dirty="0">
                  <a:solidFill>
                    <a:srgbClr val="FFA251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endParaRPr>
              </a:p>
            </p:txBody>
          </p:sp>
        </mc:Choice>
        <mc:Fallback xmlns="">
          <p:sp>
            <p:nvSpPr>
              <p:cNvPr id="147" name="TextBox 18">
                <a:extLst>
                  <a:ext uri="{FF2B5EF4-FFF2-40B4-BE49-F238E27FC236}">
                    <a16:creationId xmlns:a16="http://schemas.microsoft.com/office/drawing/2014/main" id="{27CA4837-0C62-CC11-3868-88E33F40F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290" y="3898357"/>
                <a:ext cx="3866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Straight Connector 31">
            <a:extLst>
              <a:ext uri="{FF2B5EF4-FFF2-40B4-BE49-F238E27FC236}">
                <a16:creationId xmlns:a16="http://schemas.microsoft.com/office/drawing/2014/main" id="{02130631-64EB-FE3C-9330-8A8C162E7795}"/>
              </a:ext>
            </a:extLst>
          </p:cNvPr>
          <p:cNvCxnSpPr>
            <a:cxnSpLocks/>
            <a:stCxn id="177" idx="3"/>
            <a:endCxn id="178" idx="1"/>
          </p:cNvCxnSpPr>
          <p:nvPr/>
        </p:nvCxnSpPr>
        <p:spPr>
          <a:xfrm>
            <a:off x="5381772" y="3581566"/>
            <a:ext cx="2289354" cy="249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ysDot"/>
            <a:miter lim="800000"/>
          </a:ln>
          <a:effectLst/>
        </p:spPr>
      </p:cxnSp>
      <p:sp>
        <p:nvSpPr>
          <p:cNvPr id="149" name="TextBox 35">
            <a:extLst>
              <a:ext uri="{FF2B5EF4-FFF2-40B4-BE49-F238E27FC236}">
                <a16:creationId xmlns:a16="http://schemas.microsoft.com/office/drawing/2014/main" id="{EF745D0B-895A-0E4E-2056-62335DDED877}"/>
              </a:ext>
            </a:extLst>
          </p:cNvPr>
          <p:cNvSpPr txBox="1"/>
          <p:nvPr/>
        </p:nvSpPr>
        <p:spPr>
          <a:xfrm>
            <a:off x="8126153" y="3794976"/>
            <a:ext cx="542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30"/>
            <a:r>
              <a:rPr lang="de-DE" sz="1400" b="1" dirty="0">
                <a:solidFill>
                  <a:srgbClr val="0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Bob</a:t>
            </a:r>
            <a:endParaRPr lang="en-GB" sz="1400" b="1" dirty="0">
              <a:solidFill>
                <a:srgbClr val="000000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0" name="TextBox 39">
            <a:extLst>
              <a:ext uri="{FF2B5EF4-FFF2-40B4-BE49-F238E27FC236}">
                <a16:creationId xmlns:a16="http://schemas.microsoft.com/office/drawing/2014/main" id="{B7B43A16-1180-F461-8773-737DC55CF54D}"/>
              </a:ext>
            </a:extLst>
          </p:cNvPr>
          <p:cNvSpPr txBox="1"/>
          <p:nvPr/>
        </p:nvSpPr>
        <p:spPr>
          <a:xfrm>
            <a:off x="3786850" y="2201529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30"/>
            <a:r>
              <a:rPr lang="de-DE" sz="1400" b="1" dirty="0">
                <a:solidFill>
                  <a:srgbClr val="0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Alice</a:t>
            </a:r>
            <a:endParaRPr lang="en-GB" sz="1400" b="1" dirty="0">
              <a:solidFill>
                <a:srgbClr val="000000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cxnSp>
        <p:nvCxnSpPr>
          <p:cNvPr id="151" name="Straight Connector 42">
            <a:extLst>
              <a:ext uri="{FF2B5EF4-FFF2-40B4-BE49-F238E27FC236}">
                <a16:creationId xmlns:a16="http://schemas.microsoft.com/office/drawing/2014/main" id="{BF3A4989-9165-180A-5235-0B371153EFF1}"/>
              </a:ext>
            </a:extLst>
          </p:cNvPr>
          <p:cNvCxnSpPr>
            <a:cxnSpLocks/>
          </p:cNvCxnSpPr>
          <p:nvPr/>
        </p:nvCxnSpPr>
        <p:spPr>
          <a:xfrm>
            <a:off x="7791022" y="3921599"/>
            <a:ext cx="0" cy="748849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cxnSp>
        <p:nvCxnSpPr>
          <p:cNvPr id="152" name="Straight Connector 43">
            <a:extLst>
              <a:ext uri="{FF2B5EF4-FFF2-40B4-BE49-F238E27FC236}">
                <a16:creationId xmlns:a16="http://schemas.microsoft.com/office/drawing/2014/main" id="{9EED47A1-BB4E-E547-3D00-8776AE3616E8}"/>
              </a:ext>
            </a:extLst>
          </p:cNvPr>
          <p:cNvCxnSpPr/>
          <p:nvPr/>
        </p:nvCxnSpPr>
        <p:spPr>
          <a:xfrm>
            <a:off x="7790498" y="2462112"/>
            <a:ext cx="0" cy="748849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sp>
        <p:nvSpPr>
          <p:cNvPr id="153" name="Rectangle 44">
            <a:extLst>
              <a:ext uri="{FF2B5EF4-FFF2-40B4-BE49-F238E27FC236}">
                <a16:creationId xmlns:a16="http://schemas.microsoft.com/office/drawing/2014/main" id="{2CC6196C-09DE-C079-7EE7-3E76AA5B8159}"/>
              </a:ext>
            </a:extLst>
          </p:cNvPr>
          <p:cNvSpPr/>
          <p:nvPr/>
        </p:nvSpPr>
        <p:spPr>
          <a:xfrm>
            <a:off x="7543475" y="2796365"/>
            <a:ext cx="494045" cy="108761"/>
          </a:xfrm>
          <a:prstGeom prst="rect">
            <a:avLst/>
          </a:prstGeom>
          <a:solidFill>
            <a:srgbClr val="507189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77B6BA"/>
              </a:solidFill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4" name="TextBox 45">
            <a:extLst>
              <a:ext uri="{FF2B5EF4-FFF2-40B4-BE49-F238E27FC236}">
                <a16:creationId xmlns:a16="http://schemas.microsoft.com/office/drawing/2014/main" id="{BC4CB49F-A88E-B5E1-F823-53989DF697A2}"/>
              </a:ext>
            </a:extLst>
          </p:cNvPr>
          <p:cNvSpPr txBox="1"/>
          <p:nvPr/>
        </p:nvSpPr>
        <p:spPr>
          <a:xfrm>
            <a:off x="8037520" y="2705951"/>
            <a:ext cx="924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0"/>
            <a:r>
              <a:rPr lang="de-DE" sz="1200" b="0" i="0" dirty="0" err="1">
                <a:solidFill>
                  <a:srgbClr val="000000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Waveplate</a:t>
            </a:r>
            <a:endParaRPr lang="en-GB" sz="1200" i="1" dirty="0">
              <a:solidFill>
                <a:srgbClr val="000000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5" name="Rectangle 46">
            <a:extLst>
              <a:ext uri="{FF2B5EF4-FFF2-40B4-BE49-F238E27FC236}">
                <a16:creationId xmlns:a16="http://schemas.microsoft.com/office/drawing/2014/main" id="{AAB5F186-89EB-EE56-0795-81D4F80D5F7A}"/>
              </a:ext>
            </a:extLst>
          </p:cNvPr>
          <p:cNvSpPr/>
          <p:nvPr/>
        </p:nvSpPr>
        <p:spPr>
          <a:xfrm>
            <a:off x="7578465" y="2047516"/>
            <a:ext cx="424064" cy="413886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77B6BA"/>
              </a:solidFill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cxnSp>
        <p:nvCxnSpPr>
          <p:cNvPr id="156" name="Straight Connector 48">
            <a:extLst>
              <a:ext uri="{FF2B5EF4-FFF2-40B4-BE49-F238E27FC236}">
                <a16:creationId xmlns:a16="http://schemas.microsoft.com/office/drawing/2014/main" id="{E65217B8-9CF0-1756-DC68-D9F089F9E954}"/>
              </a:ext>
            </a:extLst>
          </p:cNvPr>
          <p:cNvCxnSpPr>
            <a:cxnSpLocks/>
          </p:cNvCxnSpPr>
          <p:nvPr/>
        </p:nvCxnSpPr>
        <p:spPr>
          <a:xfrm flipV="1">
            <a:off x="7578465" y="2047516"/>
            <a:ext cx="424064" cy="413886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sp>
        <p:nvSpPr>
          <p:cNvPr id="157" name="Rectangle 51">
            <a:extLst>
              <a:ext uri="{FF2B5EF4-FFF2-40B4-BE49-F238E27FC236}">
                <a16:creationId xmlns:a16="http://schemas.microsoft.com/office/drawing/2014/main" id="{723BE35D-D9CB-295C-12E0-EEAD0D9761B6}"/>
              </a:ext>
            </a:extLst>
          </p:cNvPr>
          <p:cNvSpPr/>
          <p:nvPr/>
        </p:nvSpPr>
        <p:spPr>
          <a:xfrm>
            <a:off x="7578990" y="4670448"/>
            <a:ext cx="424064" cy="413886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77B6BA"/>
              </a:solidFill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cxnSp>
        <p:nvCxnSpPr>
          <p:cNvPr id="158" name="Straight Connector 52">
            <a:extLst>
              <a:ext uri="{FF2B5EF4-FFF2-40B4-BE49-F238E27FC236}">
                <a16:creationId xmlns:a16="http://schemas.microsoft.com/office/drawing/2014/main" id="{AB8E6A82-63A8-7480-7F98-58C1E5541739}"/>
              </a:ext>
            </a:extLst>
          </p:cNvPr>
          <p:cNvCxnSpPr>
            <a:cxnSpLocks/>
          </p:cNvCxnSpPr>
          <p:nvPr/>
        </p:nvCxnSpPr>
        <p:spPr>
          <a:xfrm flipH="1" flipV="1">
            <a:off x="7578990" y="4668181"/>
            <a:ext cx="423538" cy="416153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cxnSp>
        <p:nvCxnSpPr>
          <p:cNvPr id="159" name="Straight Connector 54">
            <a:extLst>
              <a:ext uri="{FF2B5EF4-FFF2-40B4-BE49-F238E27FC236}">
                <a16:creationId xmlns:a16="http://schemas.microsoft.com/office/drawing/2014/main" id="{5BAF0F31-BFA4-77EB-F8BA-E4E1C5B315B6}"/>
              </a:ext>
            </a:extLst>
          </p:cNvPr>
          <p:cNvCxnSpPr>
            <a:cxnSpLocks/>
          </p:cNvCxnSpPr>
          <p:nvPr/>
        </p:nvCxnSpPr>
        <p:spPr>
          <a:xfrm flipV="1">
            <a:off x="7789971" y="1752809"/>
            <a:ext cx="1" cy="292551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cxnSp>
        <p:nvCxnSpPr>
          <p:cNvPr id="160" name="Straight Connector 55">
            <a:extLst>
              <a:ext uri="{FF2B5EF4-FFF2-40B4-BE49-F238E27FC236}">
                <a16:creationId xmlns:a16="http://schemas.microsoft.com/office/drawing/2014/main" id="{45C54413-B92E-3ECC-F2DF-E1D94B2DC3BA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48804" y="2108184"/>
            <a:ext cx="1" cy="292551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sp>
        <p:nvSpPr>
          <p:cNvPr id="161" name="Chord 56">
            <a:extLst>
              <a:ext uri="{FF2B5EF4-FFF2-40B4-BE49-F238E27FC236}">
                <a16:creationId xmlns:a16="http://schemas.microsoft.com/office/drawing/2014/main" id="{1C2F1B36-BC2C-AE19-8190-3839B3393AE3}"/>
              </a:ext>
            </a:extLst>
          </p:cNvPr>
          <p:cNvSpPr/>
          <p:nvPr/>
        </p:nvSpPr>
        <p:spPr>
          <a:xfrm rot="3860822">
            <a:off x="7578791" y="1629065"/>
            <a:ext cx="423412" cy="423014"/>
          </a:xfrm>
          <a:prstGeom prst="chord">
            <a:avLst>
              <a:gd name="adj1" fmla="val 8449004"/>
              <a:gd name="adj2" fmla="val 16259054"/>
            </a:avLst>
          </a:prstGeom>
          <a:solidFill>
            <a:srgbClr val="507189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77B6BA"/>
              </a:solidFill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62" name="Chord 57">
            <a:extLst>
              <a:ext uri="{FF2B5EF4-FFF2-40B4-BE49-F238E27FC236}">
                <a16:creationId xmlns:a16="http://schemas.microsoft.com/office/drawing/2014/main" id="{1E5BC289-3DBC-2E04-EEBB-41289C8D16B4}"/>
              </a:ext>
            </a:extLst>
          </p:cNvPr>
          <p:cNvSpPr/>
          <p:nvPr/>
        </p:nvSpPr>
        <p:spPr>
          <a:xfrm rot="9260822">
            <a:off x="8002129" y="2047689"/>
            <a:ext cx="423412" cy="423014"/>
          </a:xfrm>
          <a:prstGeom prst="chord">
            <a:avLst>
              <a:gd name="adj1" fmla="val 8449004"/>
              <a:gd name="adj2" fmla="val 16259054"/>
            </a:avLst>
          </a:prstGeom>
          <a:solidFill>
            <a:srgbClr val="507189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77B6BA"/>
              </a:solidFill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grpSp>
        <p:nvGrpSpPr>
          <p:cNvPr id="163" name="Group 59">
            <a:extLst>
              <a:ext uri="{FF2B5EF4-FFF2-40B4-BE49-F238E27FC236}">
                <a16:creationId xmlns:a16="http://schemas.microsoft.com/office/drawing/2014/main" id="{E2993CFF-7084-4261-FA2D-19C54D72C457}"/>
              </a:ext>
            </a:extLst>
          </p:cNvPr>
          <p:cNvGrpSpPr/>
          <p:nvPr/>
        </p:nvGrpSpPr>
        <p:grpSpPr>
          <a:xfrm flipV="1">
            <a:off x="7578989" y="4670448"/>
            <a:ext cx="846551" cy="841837"/>
            <a:chOff x="9191158" y="1761968"/>
            <a:chExt cx="846551" cy="841837"/>
          </a:xfrm>
          <a:solidFill>
            <a:srgbClr val="507189"/>
          </a:solidFill>
        </p:grpSpPr>
        <p:cxnSp>
          <p:nvCxnSpPr>
            <p:cNvPr id="164" name="Straight Connector 60">
              <a:extLst>
                <a:ext uri="{FF2B5EF4-FFF2-40B4-BE49-F238E27FC236}">
                  <a16:creationId xmlns:a16="http://schemas.microsoft.com/office/drawing/2014/main" id="{A95283CC-25FF-34C4-50D8-F579915A7481}"/>
                </a:ext>
              </a:extLst>
            </p:cNvPr>
            <p:cNvCxnSpPr/>
            <p:nvPr/>
          </p:nvCxnSpPr>
          <p:spPr>
            <a:xfrm flipV="1">
              <a:off x="9402665" y="1895101"/>
              <a:ext cx="1" cy="292551"/>
            </a:xfrm>
            <a:prstGeom prst="line">
              <a:avLst/>
            </a:prstGeom>
            <a:grp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65" name="Straight Connector 61">
              <a:extLst>
                <a:ext uri="{FF2B5EF4-FFF2-40B4-BE49-F238E27FC236}">
                  <a16:creationId xmlns:a16="http://schemas.microsoft.com/office/drawing/2014/main" id="{4E2E05C6-1720-29A0-1CFE-3941908C605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760972" y="2241286"/>
              <a:ext cx="1" cy="292551"/>
            </a:xfrm>
            <a:prstGeom prst="line">
              <a:avLst/>
            </a:prstGeom>
            <a:grp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sp>
          <p:nvSpPr>
            <p:cNvPr id="166" name="Chord 62">
              <a:extLst>
                <a:ext uri="{FF2B5EF4-FFF2-40B4-BE49-F238E27FC236}">
                  <a16:creationId xmlns:a16="http://schemas.microsoft.com/office/drawing/2014/main" id="{D25D6BD4-03D6-55C6-C3B3-DB3BD1675ADD}"/>
                </a:ext>
              </a:extLst>
            </p:cNvPr>
            <p:cNvSpPr/>
            <p:nvPr/>
          </p:nvSpPr>
          <p:spPr>
            <a:xfrm rot="3860822">
              <a:off x="9190959" y="1762167"/>
              <a:ext cx="423412" cy="423014"/>
            </a:xfrm>
            <a:prstGeom prst="chord">
              <a:avLst>
                <a:gd name="adj1" fmla="val 8449004"/>
                <a:gd name="adj2" fmla="val 16259054"/>
              </a:avLst>
            </a:prstGeom>
            <a:grp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77B6BA"/>
                </a:solidFill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endParaRPr>
            </a:p>
          </p:txBody>
        </p:sp>
        <p:sp>
          <p:nvSpPr>
            <p:cNvPr id="167" name="Chord 63">
              <a:extLst>
                <a:ext uri="{FF2B5EF4-FFF2-40B4-BE49-F238E27FC236}">
                  <a16:creationId xmlns:a16="http://schemas.microsoft.com/office/drawing/2014/main" id="{4412676D-11E3-3CE8-9CCA-2F286CF4F33A}"/>
                </a:ext>
              </a:extLst>
            </p:cNvPr>
            <p:cNvSpPr/>
            <p:nvPr/>
          </p:nvSpPr>
          <p:spPr>
            <a:xfrm rot="9260822">
              <a:off x="9614297" y="2180791"/>
              <a:ext cx="423412" cy="423014"/>
            </a:xfrm>
            <a:prstGeom prst="chord">
              <a:avLst>
                <a:gd name="adj1" fmla="val 8449004"/>
                <a:gd name="adj2" fmla="val 16259054"/>
              </a:avLst>
            </a:prstGeom>
            <a:grp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77B6BA"/>
                </a:solidFill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endParaRPr>
            </a:p>
          </p:txBody>
        </p:sp>
      </p:grpSp>
      <p:sp>
        <p:nvSpPr>
          <p:cNvPr id="168" name="TextBox 64">
            <a:extLst>
              <a:ext uri="{FF2B5EF4-FFF2-40B4-BE49-F238E27FC236}">
                <a16:creationId xmlns:a16="http://schemas.microsoft.com/office/drawing/2014/main" id="{1774419D-7AE2-BC97-3938-9970097D4FD0}"/>
              </a:ext>
            </a:extLst>
          </p:cNvPr>
          <p:cNvSpPr txBox="1"/>
          <p:nvPr/>
        </p:nvSpPr>
        <p:spPr>
          <a:xfrm>
            <a:off x="8005575" y="5570634"/>
            <a:ext cx="7832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30"/>
            <a:r>
              <a:rPr lang="de-DE" sz="1200" i="1" dirty="0" err="1">
                <a:solidFill>
                  <a:srgbClr val="000000"/>
                </a:solidFill>
                <a:latin typeface="Red Hat Text Medium" panose="02010303040201060303" pitchFamily="2" charset="0"/>
                <a:ea typeface="Red Hat Text Medium" panose="02010303040201060303" pitchFamily="2" charset="0"/>
                <a:cs typeface="Red Hat Text Medium" panose="02010303040201060303" pitchFamily="2" charset="0"/>
              </a:rPr>
              <a:t>Detection</a:t>
            </a:r>
            <a:endParaRPr lang="de-DE" sz="1200" i="1" dirty="0">
              <a:solidFill>
                <a:srgbClr val="000000"/>
              </a:solidFill>
              <a:latin typeface="Red Hat Text Medium" panose="02010303040201060303" pitchFamily="2" charset="0"/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sp>
        <p:nvSpPr>
          <p:cNvPr id="169" name="TextBox 65">
            <a:extLst>
              <a:ext uri="{FF2B5EF4-FFF2-40B4-BE49-F238E27FC236}">
                <a16:creationId xmlns:a16="http://schemas.microsoft.com/office/drawing/2014/main" id="{2AD5D890-91EE-A72D-A7CE-61A549A53804}"/>
              </a:ext>
            </a:extLst>
          </p:cNvPr>
          <p:cNvSpPr txBox="1"/>
          <p:nvPr/>
        </p:nvSpPr>
        <p:spPr>
          <a:xfrm>
            <a:off x="7957198" y="1350100"/>
            <a:ext cx="78329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914330"/>
            <a:r>
              <a:rPr lang="de-DE" sz="1200" i="1" dirty="0" err="1">
                <a:solidFill>
                  <a:srgbClr val="000000"/>
                </a:solidFill>
                <a:latin typeface="Red Hat Text Medium" panose="02010303040201060303" pitchFamily="2" charset="0"/>
                <a:ea typeface="Red Hat Text Medium" panose="02010303040201060303" pitchFamily="2" charset="0"/>
                <a:cs typeface="Red Hat Text Medium" panose="02010303040201060303" pitchFamily="2" charset="0"/>
              </a:rPr>
              <a:t>Detection</a:t>
            </a:r>
            <a:endParaRPr lang="de-DE" sz="1200" i="1" dirty="0">
              <a:solidFill>
                <a:srgbClr val="000000"/>
              </a:solidFill>
              <a:latin typeface="Red Hat Text Medium" panose="02010303040201060303" pitchFamily="2" charset="0"/>
              <a:ea typeface="Red Hat Text Medium" panose="02010303040201060303" pitchFamily="2" charset="0"/>
              <a:cs typeface="Red Hat Text Medium" panose="02010303040201060303" pitchFamily="2" charset="0"/>
            </a:endParaRPr>
          </a:p>
        </p:txBody>
      </p:sp>
      <p:pic>
        <p:nvPicPr>
          <p:cNvPr id="170" name="Grafik 166">
            <a:extLst>
              <a:ext uri="{FF2B5EF4-FFF2-40B4-BE49-F238E27FC236}">
                <a16:creationId xmlns:a16="http://schemas.microsoft.com/office/drawing/2014/main" id="{A9825378-B575-DDA8-9681-0D5D7996E3D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8467" y="1562441"/>
            <a:ext cx="668647" cy="668647"/>
          </a:xfrm>
          <a:prstGeom prst="rect">
            <a:avLst/>
          </a:prstGeom>
        </p:spPr>
      </p:pic>
      <p:pic>
        <p:nvPicPr>
          <p:cNvPr id="171" name="Grafik 167">
            <a:extLst>
              <a:ext uri="{FF2B5EF4-FFF2-40B4-BE49-F238E27FC236}">
                <a16:creationId xmlns:a16="http://schemas.microsoft.com/office/drawing/2014/main" id="{68A7AF0E-DB4D-A8B6-C88E-F53EA3EE080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47430" y="3183869"/>
            <a:ext cx="668646" cy="668646"/>
          </a:xfrm>
          <a:prstGeom prst="rect">
            <a:avLst/>
          </a:prstGeom>
        </p:spPr>
      </p:pic>
      <p:grpSp>
        <p:nvGrpSpPr>
          <p:cNvPr id="172" name="Gruppieren 13">
            <a:extLst>
              <a:ext uri="{FF2B5EF4-FFF2-40B4-BE49-F238E27FC236}">
                <a16:creationId xmlns:a16="http://schemas.microsoft.com/office/drawing/2014/main" id="{9BB84BF0-B47E-D9C6-4094-8BE40B7514AF}"/>
              </a:ext>
            </a:extLst>
          </p:cNvPr>
          <p:cNvGrpSpPr/>
          <p:nvPr/>
        </p:nvGrpSpPr>
        <p:grpSpPr>
          <a:xfrm>
            <a:off x="4885023" y="3138737"/>
            <a:ext cx="496749" cy="940462"/>
            <a:chOff x="7732998" y="3233987"/>
            <a:chExt cx="496749" cy="940462"/>
          </a:xfrm>
        </p:grpSpPr>
        <p:cxnSp>
          <p:nvCxnSpPr>
            <p:cNvPr id="173" name="Verbinder: gewinkelt 170">
              <a:extLst>
                <a:ext uri="{FF2B5EF4-FFF2-40B4-BE49-F238E27FC236}">
                  <a16:creationId xmlns:a16="http://schemas.microsoft.com/office/drawing/2014/main" id="{80B674C0-0058-2402-8907-844638356DBD}"/>
                </a:ext>
              </a:extLst>
            </p:cNvPr>
            <p:cNvCxnSpPr>
              <a:cxnSpLocks/>
              <a:endCxn id="177" idx="0"/>
            </p:cNvCxnSpPr>
            <p:nvPr/>
          </p:nvCxnSpPr>
          <p:spPr>
            <a:xfrm>
              <a:off x="7771193" y="3233987"/>
              <a:ext cx="338809" cy="73849"/>
            </a:xfrm>
            <a:prstGeom prst="bentConnector2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74" name="Verbinder: gewinkelt 180">
              <a:extLst>
                <a:ext uri="{FF2B5EF4-FFF2-40B4-BE49-F238E27FC236}">
                  <a16:creationId xmlns:a16="http://schemas.microsoft.com/office/drawing/2014/main" id="{4EEC6E23-1070-9166-49BC-714276368A55}"/>
                </a:ext>
              </a:extLst>
            </p:cNvPr>
            <p:cNvCxnSpPr>
              <a:cxnSpLocks/>
              <a:endCxn id="177" idx="2"/>
            </p:cNvCxnSpPr>
            <p:nvPr/>
          </p:nvCxnSpPr>
          <p:spPr>
            <a:xfrm flipV="1">
              <a:off x="7740032" y="4045795"/>
              <a:ext cx="369970" cy="128654"/>
            </a:xfrm>
            <a:prstGeom prst="bentConnector2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75" name="Gerader Verbinder 197">
              <a:extLst>
                <a:ext uri="{FF2B5EF4-FFF2-40B4-BE49-F238E27FC236}">
                  <a16:creationId xmlns:a16="http://schemas.microsoft.com/office/drawing/2014/main" id="{16BDDF2A-34E0-64DC-3C2C-E471AEF1D199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32" y="3859560"/>
              <a:ext cx="285394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76" name="Gerader Verbinder 200">
              <a:extLst>
                <a:ext uri="{FF2B5EF4-FFF2-40B4-BE49-F238E27FC236}">
                  <a16:creationId xmlns:a16="http://schemas.microsoft.com/office/drawing/2014/main" id="{35A18D73-1568-B58B-8BD0-2D6F0557E13B}"/>
                </a:ext>
              </a:extLst>
            </p:cNvPr>
            <p:cNvCxnSpPr>
              <a:cxnSpLocks/>
            </p:cNvCxnSpPr>
            <p:nvPr/>
          </p:nvCxnSpPr>
          <p:spPr>
            <a:xfrm>
              <a:off x="7732998" y="3544671"/>
              <a:ext cx="292428" cy="0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sp>
          <p:nvSpPr>
            <p:cNvPr id="177" name="Rectangle 37">
              <a:extLst>
                <a:ext uri="{FF2B5EF4-FFF2-40B4-BE49-F238E27FC236}">
                  <a16:creationId xmlns:a16="http://schemas.microsoft.com/office/drawing/2014/main" id="{2A8D4B02-EE80-C090-9A01-60BCD9311743}"/>
                </a:ext>
              </a:extLst>
            </p:cNvPr>
            <p:cNvSpPr/>
            <p:nvPr/>
          </p:nvSpPr>
          <p:spPr>
            <a:xfrm>
              <a:off x="7990256" y="3307836"/>
              <a:ext cx="239491" cy="73795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507189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507189"/>
                </a:solidFill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endParaRPr>
            </a:p>
          </p:txBody>
        </p:sp>
      </p:grpSp>
      <p:sp>
        <p:nvSpPr>
          <p:cNvPr id="178" name="Rectangle 37">
            <a:extLst>
              <a:ext uri="{FF2B5EF4-FFF2-40B4-BE49-F238E27FC236}">
                <a16:creationId xmlns:a16="http://schemas.microsoft.com/office/drawing/2014/main" id="{69602CC9-A25F-E298-8E40-487B271996B8}"/>
              </a:ext>
            </a:extLst>
          </p:cNvPr>
          <p:cNvSpPr/>
          <p:nvPr/>
        </p:nvSpPr>
        <p:spPr>
          <a:xfrm>
            <a:off x="7671126" y="3215083"/>
            <a:ext cx="239491" cy="73795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507189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srgbClr val="507189"/>
              </a:solidFill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grpSp>
        <p:nvGrpSpPr>
          <p:cNvPr id="179" name="Gruppieren 12">
            <a:extLst>
              <a:ext uri="{FF2B5EF4-FFF2-40B4-BE49-F238E27FC236}">
                <a16:creationId xmlns:a16="http://schemas.microsoft.com/office/drawing/2014/main" id="{88658377-080F-8E4F-2455-E15F646F1B21}"/>
              </a:ext>
            </a:extLst>
          </p:cNvPr>
          <p:cNvGrpSpPr/>
          <p:nvPr/>
        </p:nvGrpSpPr>
        <p:grpSpPr>
          <a:xfrm>
            <a:off x="5344036" y="3385922"/>
            <a:ext cx="2207224" cy="392504"/>
            <a:chOff x="8192011" y="3481172"/>
            <a:chExt cx="2207224" cy="392504"/>
          </a:xfrm>
        </p:grpSpPr>
        <p:grpSp>
          <p:nvGrpSpPr>
            <p:cNvPr id="180" name="Gruppieren 11">
              <a:extLst>
                <a:ext uri="{FF2B5EF4-FFF2-40B4-BE49-F238E27FC236}">
                  <a16:creationId xmlns:a16="http://schemas.microsoft.com/office/drawing/2014/main" id="{2BBDE339-53F5-0634-A67A-79C271E5F721}"/>
                </a:ext>
              </a:extLst>
            </p:cNvPr>
            <p:cNvGrpSpPr/>
            <p:nvPr/>
          </p:nvGrpSpPr>
          <p:grpSpPr>
            <a:xfrm>
              <a:off x="8192011" y="3481172"/>
              <a:ext cx="2044190" cy="384218"/>
              <a:chOff x="8192011" y="3481172"/>
              <a:chExt cx="2044190" cy="3842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2" name="TextBox 16">
                    <a:extLst>
                      <a:ext uri="{FF2B5EF4-FFF2-40B4-BE49-F238E27FC236}">
                        <a16:creationId xmlns:a16="http://schemas.microsoft.com/office/drawing/2014/main" id="{30494471-8A34-EFE8-51F0-F54D22D79956}"/>
                      </a:ext>
                    </a:extLst>
                  </p:cNvPr>
                  <p:cNvSpPr txBox="1"/>
                  <p:nvPr/>
                </p:nvSpPr>
                <p:spPr>
                  <a:xfrm>
                    <a:off x="8414007" y="3481172"/>
                    <a:ext cx="4299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defTabSz="91433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i="1" dirty="0">
                              <a:solidFill>
                                <a:srgbClr val="042C58">
                                  <a:lumMod val="75000"/>
                                  <a:lumOff val="25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</m:oMath>
                      </m:oMathPara>
                    </a14:m>
                    <a:endParaRPr lang="en-GB" dirty="0">
                      <a:solidFill>
                        <a:srgbClr val="042C58">
                          <a:lumMod val="75000"/>
                          <a:lumOff val="25000"/>
                        </a:srgbClr>
                      </a:solidFill>
                      <a:latin typeface="Red Hat Text" panose="02010303040201060303" pitchFamily="2" charset="0"/>
                      <a:ea typeface="Red Hat Text" panose="02010303040201060303" pitchFamily="2" charset="0"/>
                      <a:cs typeface="Red Hat Text" panose="02010303040201060303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23" name="TextBox 16">
                    <a:extLst>
                      <a:ext uri="{FF2B5EF4-FFF2-40B4-BE49-F238E27FC236}">
                        <a16:creationId xmlns:a16="http://schemas.microsoft.com/office/drawing/2014/main" id="{C9CDBB63-3288-AC07-23E6-8FBF4B9AD1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14007" y="3481172"/>
                    <a:ext cx="429925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83" name="Gruppieren 10">
                <a:extLst>
                  <a:ext uri="{FF2B5EF4-FFF2-40B4-BE49-F238E27FC236}">
                    <a16:creationId xmlns:a16="http://schemas.microsoft.com/office/drawing/2014/main" id="{35C2AA28-AD1D-57DD-46F9-D3341841F2A6}"/>
                  </a:ext>
                </a:extLst>
              </p:cNvPr>
              <p:cNvGrpSpPr/>
              <p:nvPr/>
            </p:nvGrpSpPr>
            <p:grpSpPr>
              <a:xfrm>
                <a:off x="8192011" y="3481172"/>
                <a:ext cx="2044190" cy="384218"/>
                <a:chOff x="8192011" y="3481172"/>
                <a:chExt cx="2044190" cy="38421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4" name="TextBox 18">
                      <a:extLst>
                        <a:ext uri="{FF2B5EF4-FFF2-40B4-BE49-F238E27FC236}">
                          <a16:creationId xmlns:a16="http://schemas.microsoft.com/office/drawing/2014/main" id="{31BBE51C-C432-E309-E0D4-0B6355F3783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92011" y="3490228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defTabSz="91433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i="1" dirty="0">
                                <a:solidFill>
                                  <a:srgbClr val="FFA251"/>
                                </a:solidFill>
                                <a:latin typeface="Cambria Math" panose="02040503050406030204" pitchFamily="18" charset="0"/>
                              </a:rPr>
                              <m:t>↖</m:t>
                            </m:r>
                          </m:oMath>
                        </m:oMathPara>
                      </a14:m>
                      <a:endParaRPr lang="en-GB" dirty="0">
                        <a:solidFill>
                          <a:srgbClr val="FFA251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24" name="TextBox 18">
                      <a:extLst>
                        <a:ext uri="{FF2B5EF4-FFF2-40B4-BE49-F238E27FC236}">
                          <a16:creationId xmlns:a16="http://schemas.microsoft.com/office/drawing/2014/main" id="{7124146E-3169-BB15-F269-3E58071B636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92011" y="3490228"/>
                      <a:ext cx="386644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5" name="TextBox 15">
                      <a:extLst>
                        <a:ext uri="{FF2B5EF4-FFF2-40B4-BE49-F238E27FC236}">
                          <a16:creationId xmlns:a16="http://schemas.microsoft.com/office/drawing/2014/main" id="{E45D4299-AB31-AF00-5E9F-303F307E42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72250" y="3490228"/>
                      <a:ext cx="34336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defTabSz="91433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b="1" i="1">
                                <a:solidFill>
                                  <a:srgbClr val="69B2E7"/>
                                </a:solidFill>
                                <a:latin typeface="Cambria Math" panose="02040503050406030204" pitchFamily="18" charset="0"/>
                              </a:rPr>
                              <m:t>↑</m:t>
                            </m:r>
                          </m:oMath>
                        </m:oMathPara>
                      </a14:m>
                      <a:endParaRPr lang="en-GB" b="1" dirty="0">
                        <a:solidFill>
                          <a:srgbClr val="69B2E7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25" name="TextBox 15">
                      <a:extLst>
                        <a:ext uri="{FF2B5EF4-FFF2-40B4-BE49-F238E27FC236}">
                          <a16:creationId xmlns:a16="http://schemas.microsoft.com/office/drawing/2014/main" id="{9DE80E28-31AE-E7C7-5AFB-8D70CFAC61F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72250" y="3490228"/>
                      <a:ext cx="343363" cy="369332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6" name="TextBox 15">
                      <a:extLst>
                        <a:ext uri="{FF2B5EF4-FFF2-40B4-BE49-F238E27FC236}">
                          <a16:creationId xmlns:a16="http://schemas.microsoft.com/office/drawing/2014/main" id="{C8A0928C-247D-40D7-09D6-E0BBF4C4C3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09809" y="3490228"/>
                      <a:ext cx="34336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defTabSz="91433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b="1" i="1">
                                <a:solidFill>
                                  <a:srgbClr val="69B2E7"/>
                                </a:solidFill>
                                <a:latin typeface="Cambria Math" panose="02040503050406030204" pitchFamily="18" charset="0"/>
                              </a:rPr>
                              <m:t>↑</m:t>
                            </m:r>
                          </m:oMath>
                        </m:oMathPara>
                      </a14:m>
                      <a:endParaRPr lang="en-GB" b="1" dirty="0">
                        <a:solidFill>
                          <a:srgbClr val="69B2E7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26" name="TextBox 15">
                      <a:extLst>
                        <a:ext uri="{FF2B5EF4-FFF2-40B4-BE49-F238E27FC236}">
                          <a16:creationId xmlns:a16="http://schemas.microsoft.com/office/drawing/2014/main" id="{3F93E8FC-3D51-07EF-CC8B-C09D39B3CE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09809" y="3490228"/>
                      <a:ext cx="343363" cy="36933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7" name="TextBox 17">
                      <a:extLst>
                        <a:ext uri="{FF2B5EF4-FFF2-40B4-BE49-F238E27FC236}">
                          <a16:creationId xmlns:a16="http://schemas.microsoft.com/office/drawing/2014/main" id="{7FCB5B00-FB8E-83E9-B76B-57B3CA4030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46930" y="3490228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defTabSz="91433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i="1">
                                <a:solidFill>
                                  <a:srgbClr val="E31B4C"/>
                                </a:solidFill>
                                <a:latin typeface="Cambria Math" panose="02040503050406030204" pitchFamily="18" charset="0"/>
                              </a:rPr>
                              <m:t>↗</m:t>
                            </m:r>
                          </m:oMath>
                        </m:oMathPara>
                      </a14:m>
                      <a:endParaRPr lang="en-GB" dirty="0">
                        <a:solidFill>
                          <a:srgbClr val="E31B4C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27" name="TextBox 17">
                      <a:extLst>
                        <a:ext uri="{FF2B5EF4-FFF2-40B4-BE49-F238E27FC236}">
                          <a16:creationId xmlns:a16="http://schemas.microsoft.com/office/drawing/2014/main" id="{2DCE390E-D760-1B81-0362-7526B8A9E8C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46930" y="3490228"/>
                      <a:ext cx="386644" cy="369332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8" name="TextBox 18">
                      <a:extLst>
                        <a:ext uri="{FF2B5EF4-FFF2-40B4-BE49-F238E27FC236}">
                          <a16:creationId xmlns:a16="http://schemas.microsoft.com/office/drawing/2014/main" id="{E31AA29C-7EAD-3107-DE18-F0787D9A84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42602" y="3481172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defTabSz="91433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i="1" dirty="0">
                                <a:solidFill>
                                  <a:srgbClr val="FFA251"/>
                                </a:solidFill>
                                <a:latin typeface="Cambria Math" panose="02040503050406030204" pitchFamily="18" charset="0"/>
                              </a:rPr>
                              <m:t>↖</m:t>
                            </m:r>
                          </m:oMath>
                        </m:oMathPara>
                      </a14:m>
                      <a:endParaRPr lang="en-GB" dirty="0">
                        <a:solidFill>
                          <a:srgbClr val="FFA251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28" name="TextBox 18">
                      <a:extLst>
                        <a:ext uri="{FF2B5EF4-FFF2-40B4-BE49-F238E27FC236}">
                          <a16:creationId xmlns:a16="http://schemas.microsoft.com/office/drawing/2014/main" id="{7F749031-8B92-20DD-5C0D-7EFA68D638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42602" y="3481172"/>
                      <a:ext cx="386644" cy="369332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9" name="TextBox 17">
                      <a:extLst>
                        <a:ext uri="{FF2B5EF4-FFF2-40B4-BE49-F238E27FC236}">
                          <a16:creationId xmlns:a16="http://schemas.microsoft.com/office/drawing/2014/main" id="{34C99307-1108-DF43-6F7E-2A6F22DF4C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46371" y="3496058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defTabSz="91433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i="1">
                                <a:solidFill>
                                  <a:srgbClr val="E31B4C"/>
                                </a:solidFill>
                                <a:latin typeface="Cambria Math" panose="02040503050406030204" pitchFamily="18" charset="0"/>
                              </a:rPr>
                              <m:t>↗</m:t>
                            </m:r>
                          </m:oMath>
                        </m:oMathPara>
                      </a14:m>
                      <a:endParaRPr lang="en-GB" dirty="0">
                        <a:solidFill>
                          <a:srgbClr val="E31B4C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29" name="TextBox 17">
                      <a:extLst>
                        <a:ext uri="{FF2B5EF4-FFF2-40B4-BE49-F238E27FC236}">
                          <a16:creationId xmlns:a16="http://schemas.microsoft.com/office/drawing/2014/main" id="{6F32FC94-80C3-E3CE-2774-C949BE139BD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46371" y="3496058"/>
                      <a:ext cx="386644" cy="369332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0" name="TextBox 16">
                      <a:extLst>
                        <a:ext uri="{FF2B5EF4-FFF2-40B4-BE49-F238E27FC236}">
                          <a16:creationId xmlns:a16="http://schemas.microsoft.com/office/drawing/2014/main" id="{540E5C00-30DE-5436-7168-46DC41EEEB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75543" y="3481680"/>
                      <a:ext cx="42992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defTabSz="91433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i="1" dirty="0">
                                <a:solidFill>
                                  <a:srgbClr val="042C58">
                                    <a:lumMod val="75000"/>
                                    <a:lumOff val="25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</m:oMath>
                        </m:oMathPara>
                      </a14:m>
                      <a:endParaRPr lang="en-GB" dirty="0">
                        <a:solidFill>
                          <a:srgbClr val="042C58">
                            <a:lumMod val="75000"/>
                            <a:lumOff val="25000"/>
                          </a:srgbClr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30" name="TextBox 16">
                      <a:extLst>
                        <a:ext uri="{FF2B5EF4-FFF2-40B4-BE49-F238E27FC236}">
                          <a16:creationId xmlns:a16="http://schemas.microsoft.com/office/drawing/2014/main" id="{0334C596-EB3D-1495-B87C-A1BE432229F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75543" y="3481680"/>
                      <a:ext cx="429925" cy="369332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1" name="TextBox 18">
                      <a:extLst>
                        <a:ext uri="{FF2B5EF4-FFF2-40B4-BE49-F238E27FC236}">
                          <a16:creationId xmlns:a16="http://schemas.microsoft.com/office/drawing/2014/main" id="{8DD5B868-EA79-E6FD-02AB-53F33BBD1E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49557" y="3490228"/>
                      <a:ext cx="38664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defTabSz="91433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i="1" dirty="0">
                                <a:solidFill>
                                  <a:srgbClr val="FFA251"/>
                                </a:solidFill>
                                <a:latin typeface="Cambria Math" panose="02040503050406030204" pitchFamily="18" charset="0"/>
                              </a:rPr>
                              <m:t>↖</m:t>
                            </m:r>
                          </m:oMath>
                        </m:oMathPara>
                      </a14:m>
                      <a:endParaRPr lang="en-GB" dirty="0">
                        <a:solidFill>
                          <a:srgbClr val="FFA251"/>
                        </a:solidFill>
                        <a:latin typeface="Red Hat Text" panose="02010303040201060303" pitchFamily="2" charset="0"/>
                        <a:ea typeface="Red Hat Text" panose="02010303040201060303" pitchFamily="2" charset="0"/>
                        <a:cs typeface="Red Hat Text" panose="02010303040201060303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31" name="TextBox 18">
                      <a:extLst>
                        <a:ext uri="{FF2B5EF4-FFF2-40B4-BE49-F238E27FC236}">
                          <a16:creationId xmlns:a16="http://schemas.microsoft.com/office/drawing/2014/main" id="{E3277089-1593-4A92-0B9E-CE2E0E37F5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49557" y="3490228"/>
                      <a:ext cx="386644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5">
                  <a:extLst>
                    <a:ext uri="{FF2B5EF4-FFF2-40B4-BE49-F238E27FC236}">
                      <a16:creationId xmlns:a16="http://schemas.microsoft.com/office/drawing/2014/main" id="{CAF874C2-0B6F-01C5-5449-5D7333326BF3}"/>
                    </a:ext>
                  </a:extLst>
                </p:cNvPr>
                <p:cNvSpPr txBox="1"/>
                <p:nvPr/>
              </p:nvSpPr>
              <p:spPr>
                <a:xfrm>
                  <a:off x="10055872" y="3504344"/>
                  <a:ext cx="343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1433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1" i="1">
                            <a:solidFill>
                              <a:srgbClr val="69B2E7"/>
                            </a:solidFill>
                            <a:latin typeface="Cambria Math" panose="02040503050406030204" pitchFamily="18" charset="0"/>
                          </a:rPr>
                          <m:t>↑</m:t>
                        </m:r>
                      </m:oMath>
                    </m:oMathPara>
                  </a14:m>
                  <a:endParaRPr lang="en-GB" b="1" dirty="0">
                    <a:solidFill>
                      <a:srgbClr val="69B2E7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endParaRPr>
                </a:p>
              </p:txBody>
            </p:sp>
          </mc:Choice>
          <mc:Fallback xmlns="">
            <p:sp>
              <p:nvSpPr>
                <p:cNvPr id="232" name="TextBox 15">
                  <a:extLst>
                    <a:ext uri="{FF2B5EF4-FFF2-40B4-BE49-F238E27FC236}">
                      <a16:creationId xmlns:a16="http://schemas.microsoft.com/office/drawing/2014/main" id="{C8856483-E7BC-7FC7-0F0D-F777AC703B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5872" y="3504344"/>
                  <a:ext cx="343363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2" name="Gruppieren 234">
            <a:extLst>
              <a:ext uri="{FF2B5EF4-FFF2-40B4-BE49-F238E27FC236}">
                <a16:creationId xmlns:a16="http://schemas.microsoft.com/office/drawing/2014/main" id="{CA7A4223-8A8D-27D7-30D1-3052B6D7F60A}"/>
              </a:ext>
            </a:extLst>
          </p:cNvPr>
          <p:cNvGrpSpPr/>
          <p:nvPr/>
        </p:nvGrpSpPr>
        <p:grpSpPr>
          <a:xfrm>
            <a:off x="3041184" y="3074754"/>
            <a:ext cx="464752" cy="429036"/>
            <a:chOff x="5926182" y="3367729"/>
            <a:chExt cx="464752" cy="4290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5">
                  <a:extLst>
                    <a:ext uri="{FF2B5EF4-FFF2-40B4-BE49-F238E27FC236}">
                      <a16:creationId xmlns:a16="http://schemas.microsoft.com/office/drawing/2014/main" id="{5F395356-8B15-D8F0-BFDD-1C1A1C74A7DD}"/>
                    </a:ext>
                  </a:extLst>
                </p:cNvPr>
                <p:cNvSpPr txBox="1"/>
                <p:nvPr/>
              </p:nvSpPr>
              <p:spPr>
                <a:xfrm>
                  <a:off x="5926182" y="3367729"/>
                  <a:ext cx="343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1433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↑</m:t>
                        </m:r>
                      </m:oMath>
                    </m:oMathPara>
                  </a14:m>
                  <a:endParaRPr lang="en-GB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endParaRPr>
                </a:p>
              </p:txBody>
            </p:sp>
          </mc:Choice>
          <mc:Fallback xmlns="">
            <p:sp>
              <p:nvSpPr>
                <p:cNvPr id="233" name="TextBox 15">
                  <a:extLst>
                    <a:ext uri="{FF2B5EF4-FFF2-40B4-BE49-F238E27FC236}">
                      <a16:creationId xmlns:a16="http://schemas.microsoft.com/office/drawing/2014/main" id="{4E5B6E34-D869-E6FC-234C-49BA7F814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6182" y="3367729"/>
                  <a:ext cx="343363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6">
                  <a:extLst>
                    <a:ext uri="{FF2B5EF4-FFF2-40B4-BE49-F238E27FC236}">
                      <a16:creationId xmlns:a16="http://schemas.microsoft.com/office/drawing/2014/main" id="{88A432FC-DCE1-2382-8B55-824BDD4A332C}"/>
                    </a:ext>
                  </a:extLst>
                </p:cNvPr>
                <p:cNvSpPr txBox="1"/>
                <p:nvPr/>
              </p:nvSpPr>
              <p:spPr>
                <a:xfrm>
                  <a:off x="5961009" y="3427433"/>
                  <a:ext cx="4299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1433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GB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endParaRPr>
                </a:p>
              </p:txBody>
            </p:sp>
          </mc:Choice>
          <mc:Fallback xmlns="">
            <p:sp>
              <p:nvSpPr>
                <p:cNvPr id="194" name="TextBox 16">
                  <a:extLst>
                    <a:ext uri="{FF2B5EF4-FFF2-40B4-BE49-F238E27FC236}">
                      <a16:creationId xmlns:a16="http://schemas.microsoft.com/office/drawing/2014/main" id="{88A432FC-DCE1-2382-8B55-824BDD4A3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1009" y="3427433"/>
                  <a:ext cx="429925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5" name="Gruppieren 237">
            <a:extLst>
              <a:ext uri="{FF2B5EF4-FFF2-40B4-BE49-F238E27FC236}">
                <a16:creationId xmlns:a16="http://schemas.microsoft.com/office/drawing/2014/main" id="{D991A596-F33D-72D4-90EB-26CC1884E9A4}"/>
              </a:ext>
            </a:extLst>
          </p:cNvPr>
          <p:cNvGrpSpPr/>
          <p:nvPr/>
        </p:nvGrpSpPr>
        <p:grpSpPr>
          <a:xfrm>
            <a:off x="3019040" y="3708383"/>
            <a:ext cx="503431" cy="377159"/>
            <a:chOff x="5908088" y="4047298"/>
            <a:chExt cx="503431" cy="3771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Box 18">
                  <a:extLst>
                    <a:ext uri="{FF2B5EF4-FFF2-40B4-BE49-F238E27FC236}">
                      <a16:creationId xmlns:a16="http://schemas.microsoft.com/office/drawing/2014/main" id="{D21439E5-9A8B-7566-F75A-7BECF37AC442}"/>
                    </a:ext>
                  </a:extLst>
                </p:cNvPr>
                <p:cNvSpPr txBox="1"/>
                <p:nvPr/>
              </p:nvSpPr>
              <p:spPr>
                <a:xfrm>
                  <a:off x="5908088" y="404729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1433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↖</m:t>
                        </m:r>
                      </m:oMath>
                    </m:oMathPara>
                  </a14:m>
                  <a:endParaRPr lang="en-GB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endParaRPr>
                </a:p>
              </p:txBody>
            </p:sp>
          </mc:Choice>
          <mc:Fallback xmlns="">
            <p:sp>
              <p:nvSpPr>
                <p:cNvPr id="237" name="TextBox 18">
                  <a:extLst>
                    <a:ext uri="{FF2B5EF4-FFF2-40B4-BE49-F238E27FC236}">
                      <a16:creationId xmlns:a16="http://schemas.microsoft.com/office/drawing/2014/main" id="{9D19B55C-0F28-5B0B-0053-8BD7C4400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088" y="4047298"/>
                  <a:ext cx="386644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7">
                  <a:extLst>
                    <a:ext uri="{FF2B5EF4-FFF2-40B4-BE49-F238E27FC236}">
                      <a16:creationId xmlns:a16="http://schemas.microsoft.com/office/drawing/2014/main" id="{366D9AAA-AD4E-1117-D369-FBFBF95DF6C4}"/>
                    </a:ext>
                  </a:extLst>
                </p:cNvPr>
                <p:cNvSpPr txBox="1"/>
                <p:nvPr/>
              </p:nvSpPr>
              <p:spPr>
                <a:xfrm>
                  <a:off x="6024875" y="4055125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1433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↗</m:t>
                        </m:r>
                      </m:oMath>
                    </m:oMathPara>
                  </a14:m>
                  <a:endParaRPr lang="en-GB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endParaRPr>
                </a:p>
              </p:txBody>
            </p:sp>
          </mc:Choice>
          <mc:Fallback xmlns="">
            <p:sp>
              <p:nvSpPr>
                <p:cNvPr id="236" name="TextBox 17">
                  <a:extLst>
                    <a:ext uri="{FF2B5EF4-FFF2-40B4-BE49-F238E27FC236}">
                      <a16:creationId xmlns:a16="http://schemas.microsoft.com/office/drawing/2014/main" id="{0BA2C294-70CA-EDC1-2A83-839C80F82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875" y="4055125"/>
                  <a:ext cx="386644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9" name="Rechteck 240">
            <a:extLst>
              <a:ext uri="{FF2B5EF4-FFF2-40B4-BE49-F238E27FC236}">
                <a16:creationId xmlns:a16="http://schemas.microsoft.com/office/drawing/2014/main" id="{4ED7ADDA-1438-57CC-6B28-A63396CDD44F}"/>
              </a:ext>
            </a:extLst>
          </p:cNvPr>
          <p:cNvSpPr/>
          <p:nvPr/>
        </p:nvSpPr>
        <p:spPr>
          <a:xfrm>
            <a:off x="6408936" y="3171333"/>
            <a:ext cx="1032752" cy="851625"/>
          </a:xfrm>
          <a:prstGeom prst="roundRect">
            <a:avLst/>
          </a:prstGeom>
          <a:solidFill>
            <a:srgbClr val="FFFF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rgbClr val="507189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0" name="TextBox 39">
            <a:extLst>
              <a:ext uri="{FF2B5EF4-FFF2-40B4-BE49-F238E27FC236}">
                <a16:creationId xmlns:a16="http://schemas.microsoft.com/office/drawing/2014/main" id="{95342279-769D-9873-E3A1-3190AB356D34}"/>
              </a:ext>
            </a:extLst>
          </p:cNvPr>
          <p:cNvSpPr txBox="1"/>
          <p:nvPr/>
        </p:nvSpPr>
        <p:spPr>
          <a:xfrm>
            <a:off x="6606179" y="3754702"/>
            <a:ext cx="542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Eve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pic>
        <p:nvPicPr>
          <p:cNvPr id="201" name="Grafik 251">
            <a:extLst>
              <a:ext uri="{FF2B5EF4-FFF2-40B4-BE49-F238E27FC236}">
                <a16:creationId xmlns:a16="http://schemas.microsoft.com/office/drawing/2014/main" id="{A4CA4C61-12A1-B64F-D08B-13F97DAD2E03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510135" y="3132837"/>
            <a:ext cx="701790" cy="701790"/>
          </a:xfrm>
          <a:prstGeom prst="rect">
            <a:avLst/>
          </a:prstGeom>
        </p:spPr>
      </p:pic>
      <p:grpSp>
        <p:nvGrpSpPr>
          <p:cNvPr id="202" name="Gruppieren 1">
            <a:extLst>
              <a:ext uri="{FF2B5EF4-FFF2-40B4-BE49-F238E27FC236}">
                <a16:creationId xmlns:a16="http://schemas.microsoft.com/office/drawing/2014/main" id="{109038F9-332F-C738-8649-2A7EE48ACB02}"/>
              </a:ext>
            </a:extLst>
          </p:cNvPr>
          <p:cNvGrpSpPr/>
          <p:nvPr/>
        </p:nvGrpSpPr>
        <p:grpSpPr>
          <a:xfrm>
            <a:off x="7630281" y="1300387"/>
            <a:ext cx="503431" cy="377159"/>
            <a:chOff x="5908088" y="4047298"/>
            <a:chExt cx="503431" cy="3771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TextBox 18">
                  <a:extLst>
                    <a:ext uri="{FF2B5EF4-FFF2-40B4-BE49-F238E27FC236}">
                      <a16:creationId xmlns:a16="http://schemas.microsoft.com/office/drawing/2014/main" id="{10992265-95EA-1BC9-3449-5FF93B630B23}"/>
                    </a:ext>
                  </a:extLst>
                </p:cNvPr>
                <p:cNvSpPr txBox="1"/>
                <p:nvPr/>
              </p:nvSpPr>
              <p:spPr>
                <a:xfrm>
                  <a:off x="5908088" y="404729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1433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↖</m:t>
                        </m:r>
                      </m:oMath>
                    </m:oMathPara>
                  </a14:m>
                  <a:endParaRPr lang="en-GB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endParaRPr>
                </a:p>
              </p:txBody>
            </p:sp>
          </mc:Choice>
          <mc:Fallback xmlns="">
            <p:sp>
              <p:nvSpPr>
                <p:cNvPr id="237" name="TextBox 18">
                  <a:extLst>
                    <a:ext uri="{FF2B5EF4-FFF2-40B4-BE49-F238E27FC236}">
                      <a16:creationId xmlns:a16="http://schemas.microsoft.com/office/drawing/2014/main" id="{9D19B55C-0F28-5B0B-0053-8BD7C4400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088" y="4047298"/>
                  <a:ext cx="386644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17">
                  <a:extLst>
                    <a:ext uri="{FF2B5EF4-FFF2-40B4-BE49-F238E27FC236}">
                      <a16:creationId xmlns:a16="http://schemas.microsoft.com/office/drawing/2014/main" id="{3C396B62-208A-D978-0E47-26A2869CFDDE}"/>
                    </a:ext>
                  </a:extLst>
                </p:cNvPr>
                <p:cNvSpPr txBox="1"/>
                <p:nvPr/>
              </p:nvSpPr>
              <p:spPr>
                <a:xfrm>
                  <a:off x="6024875" y="4055125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1433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↗</m:t>
                        </m:r>
                      </m:oMath>
                    </m:oMathPara>
                  </a14:m>
                  <a:endParaRPr lang="en-GB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endParaRPr>
                </a:p>
              </p:txBody>
            </p:sp>
          </mc:Choice>
          <mc:Fallback xmlns="">
            <p:sp>
              <p:nvSpPr>
                <p:cNvPr id="236" name="TextBox 17">
                  <a:extLst>
                    <a:ext uri="{FF2B5EF4-FFF2-40B4-BE49-F238E27FC236}">
                      <a16:creationId xmlns:a16="http://schemas.microsoft.com/office/drawing/2014/main" id="{0BA2C294-70CA-EDC1-2A83-839C80F82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875" y="4055125"/>
                  <a:ext cx="386644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5" name="Gruppieren 5">
            <a:extLst>
              <a:ext uri="{FF2B5EF4-FFF2-40B4-BE49-F238E27FC236}">
                <a16:creationId xmlns:a16="http://schemas.microsoft.com/office/drawing/2014/main" id="{60E8C9CC-92E0-8843-F7CB-B8BF605F09E1}"/>
              </a:ext>
            </a:extLst>
          </p:cNvPr>
          <p:cNvGrpSpPr/>
          <p:nvPr/>
        </p:nvGrpSpPr>
        <p:grpSpPr>
          <a:xfrm>
            <a:off x="7731674" y="5554611"/>
            <a:ext cx="474326" cy="430291"/>
            <a:chOff x="5926182" y="3367729"/>
            <a:chExt cx="474326" cy="4302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15">
                  <a:extLst>
                    <a:ext uri="{FF2B5EF4-FFF2-40B4-BE49-F238E27FC236}">
                      <a16:creationId xmlns:a16="http://schemas.microsoft.com/office/drawing/2014/main" id="{660FDDA9-3AC2-F64B-271B-F0E6EDB9403A}"/>
                    </a:ext>
                  </a:extLst>
                </p:cNvPr>
                <p:cNvSpPr txBox="1"/>
                <p:nvPr/>
              </p:nvSpPr>
              <p:spPr>
                <a:xfrm>
                  <a:off x="5926182" y="3367729"/>
                  <a:ext cx="343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1433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↑</m:t>
                        </m:r>
                      </m:oMath>
                    </m:oMathPara>
                  </a14:m>
                  <a:endParaRPr lang="en-GB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endParaRPr>
                </a:p>
              </p:txBody>
            </p:sp>
          </mc:Choice>
          <mc:Fallback xmlns="">
            <p:sp>
              <p:nvSpPr>
                <p:cNvPr id="233" name="TextBox 15">
                  <a:extLst>
                    <a:ext uri="{FF2B5EF4-FFF2-40B4-BE49-F238E27FC236}">
                      <a16:creationId xmlns:a16="http://schemas.microsoft.com/office/drawing/2014/main" id="{4E5B6E34-D869-E6FC-234C-49BA7F814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6182" y="3367729"/>
                  <a:ext cx="343363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16">
                  <a:extLst>
                    <a:ext uri="{FF2B5EF4-FFF2-40B4-BE49-F238E27FC236}">
                      <a16:creationId xmlns:a16="http://schemas.microsoft.com/office/drawing/2014/main" id="{55C734B8-24A5-4F56-D3CE-61A93F74724A}"/>
                    </a:ext>
                  </a:extLst>
                </p:cNvPr>
                <p:cNvSpPr txBox="1"/>
                <p:nvPr/>
              </p:nvSpPr>
              <p:spPr>
                <a:xfrm>
                  <a:off x="5970583" y="3428688"/>
                  <a:ext cx="4299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defTabSz="91433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GB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endParaRPr>
                </a:p>
              </p:txBody>
            </p:sp>
          </mc:Choice>
          <mc:Fallback xmlns="">
            <p:sp>
              <p:nvSpPr>
                <p:cNvPr id="207" name="TextBox 16">
                  <a:extLst>
                    <a:ext uri="{FF2B5EF4-FFF2-40B4-BE49-F238E27FC236}">
                      <a16:creationId xmlns:a16="http://schemas.microsoft.com/office/drawing/2014/main" id="{55C734B8-24A5-4F56-D3CE-61A93F747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0583" y="3428688"/>
                  <a:ext cx="429925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0" name="TextBox 45">
            <a:extLst>
              <a:ext uri="{FF2B5EF4-FFF2-40B4-BE49-F238E27FC236}">
                <a16:creationId xmlns:a16="http://schemas.microsoft.com/office/drawing/2014/main" id="{66C016E7-CC3D-17E9-DAC8-1B3C9DA3AA37}"/>
              </a:ext>
            </a:extLst>
          </p:cNvPr>
          <p:cNvSpPr txBox="1"/>
          <p:nvPr/>
        </p:nvSpPr>
        <p:spPr>
          <a:xfrm>
            <a:off x="6581525" y="4645848"/>
            <a:ext cx="1032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30"/>
            <a:r>
              <a:rPr lang="de-DE" sz="1200" b="0" i="0" dirty="0" err="1">
                <a:solidFill>
                  <a:srgbClr val="000000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Polarizing</a:t>
            </a:r>
            <a:r>
              <a:rPr lang="de-DE" sz="1200" b="0" i="0" dirty="0">
                <a:solidFill>
                  <a:srgbClr val="000000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 </a:t>
            </a:r>
          </a:p>
          <a:p>
            <a:pPr algn="ctr" defTabSz="914330"/>
            <a:r>
              <a:rPr lang="de-DE" sz="1200" dirty="0">
                <a:solidFill>
                  <a:srgbClr val="000000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Beam Splitter</a:t>
            </a:r>
            <a:endParaRPr lang="en-GB" sz="1200" i="1" dirty="0">
              <a:solidFill>
                <a:srgbClr val="000000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211" name="TextBox 45">
            <a:extLst>
              <a:ext uri="{FF2B5EF4-FFF2-40B4-BE49-F238E27FC236}">
                <a16:creationId xmlns:a16="http://schemas.microsoft.com/office/drawing/2014/main" id="{D03B7F05-1016-0830-BA7B-A30448529D87}"/>
              </a:ext>
            </a:extLst>
          </p:cNvPr>
          <p:cNvSpPr txBox="1"/>
          <p:nvPr/>
        </p:nvSpPr>
        <p:spPr>
          <a:xfrm>
            <a:off x="5875376" y="2554814"/>
            <a:ext cx="130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30"/>
            <a:r>
              <a:rPr lang="de-DE" sz="1200" b="0" i="0" dirty="0">
                <a:solidFill>
                  <a:srgbClr val="000000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Random </a:t>
            </a:r>
            <a:r>
              <a:rPr lang="de-DE" sz="1200" dirty="0" err="1">
                <a:solidFill>
                  <a:srgbClr val="000000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c</a:t>
            </a:r>
            <a:r>
              <a:rPr lang="de-DE" sz="1200" b="0" i="0" dirty="0" err="1">
                <a:solidFill>
                  <a:srgbClr val="000000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hannel</a:t>
            </a:r>
            <a:r>
              <a:rPr lang="de-DE" sz="1200" b="0" i="0" dirty="0">
                <a:solidFill>
                  <a:srgbClr val="000000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 </a:t>
            </a:r>
            <a:r>
              <a:rPr lang="de-DE" sz="1200" b="0" i="0" dirty="0" err="1">
                <a:solidFill>
                  <a:srgbClr val="000000"/>
                </a:solidFill>
                <a:latin typeface="+mj-lt"/>
                <a:ea typeface="Red Hat Text" panose="02010303040201060303" pitchFamily="2" charset="0"/>
                <a:cs typeface="Red Hat Text" panose="02010303040201060303" pitchFamily="2" charset="0"/>
              </a:rPr>
              <a:t>selection</a:t>
            </a:r>
            <a:endParaRPr lang="en-GB" sz="1200" i="1" dirty="0">
              <a:solidFill>
                <a:srgbClr val="000000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CC1D380B-5958-3B9A-01DA-A2083AB09E5C}"/>
              </a:ext>
            </a:extLst>
          </p:cNvPr>
          <p:cNvCxnSpPr>
            <a:cxnSpLocks/>
          </p:cNvCxnSpPr>
          <p:nvPr/>
        </p:nvCxnSpPr>
        <p:spPr>
          <a:xfrm flipV="1">
            <a:off x="5438619" y="2913711"/>
            <a:ext cx="703784" cy="3553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C2D9339B-F910-C7F7-E482-2AF53C61BECA}"/>
              </a:ext>
            </a:extLst>
          </p:cNvPr>
          <p:cNvCxnSpPr>
            <a:cxnSpLocks/>
          </p:cNvCxnSpPr>
          <p:nvPr/>
        </p:nvCxnSpPr>
        <p:spPr>
          <a:xfrm>
            <a:off x="6885040" y="2893398"/>
            <a:ext cx="687889" cy="3183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27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154" grpId="0"/>
      <p:bldP spid="155" grpId="0" animBg="1"/>
      <p:bldP spid="157" grpId="0" animBg="1"/>
      <p:bldP spid="161" grpId="0" animBg="1"/>
      <p:bldP spid="162" grpId="0" animBg="1"/>
      <p:bldP spid="168" grpId="0"/>
      <p:bldP spid="169" grpId="0"/>
      <p:bldP spid="178" grpId="0" animBg="1"/>
      <p:bldP spid="210" grpId="0"/>
      <p:bldP spid="2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DA47ECC-D58E-B643-5818-C565EB2DD5B0}"/>
              </a:ext>
            </a:extLst>
          </p:cNvPr>
          <p:cNvGrpSpPr/>
          <p:nvPr/>
        </p:nvGrpSpPr>
        <p:grpSpPr>
          <a:xfrm>
            <a:off x="338058" y="692873"/>
            <a:ext cx="11853942" cy="5333028"/>
            <a:chOff x="338058" y="692873"/>
            <a:chExt cx="11853942" cy="5333028"/>
          </a:xfrm>
        </p:grpSpPr>
        <p:sp>
          <p:nvSpPr>
            <p:cNvPr id="107" name="Rechteck: abgerundete Ecken 249">
              <a:extLst>
                <a:ext uri="{FF2B5EF4-FFF2-40B4-BE49-F238E27FC236}">
                  <a16:creationId xmlns:a16="http://schemas.microsoft.com/office/drawing/2014/main" id="{EB099860-FCEE-1B1D-D757-1CB0F453F93D}"/>
                </a:ext>
              </a:extLst>
            </p:cNvPr>
            <p:cNvSpPr/>
            <p:nvPr/>
          </p:nvSpPr>
          <p:spPr>
            <a:xfrm>
              <a:off x="7557289" y="3775502"/>
              <a:ext cx="4568036" cy="1828804"/>
            </a:xfrm>
            <a:prstGeom prst="roundRect">
              <a:avLst>
                <a:gd name="adj" fmla="val 9596"/>
              </a:avLst>
            </a:prstGeom>
            <a:solidFill>
              <a:srgbClr val="ECF1F4"/>
            </a:solidFill>
            <a:ln w="127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3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rgbClr val="507189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4" name="Rechteck: abgerundete Ecken 249">
              <a:extLst>
                <a:ext uri="{FF2B5EF4-FFF2-40B4-BE49-F238E27FC236}">
                  <a16:creationId xmlns:a16="http://schemas.microsoft.com/office/drawing/2014/main" id="{C60EC94D-8436-6991-DB40-1D0DEBA78394}"/>
                </a:ext>
              </a:extLst>
            </p:cNvPr>
            <p:cNvSpPr/>
            <p:nvPr/>
          </p:nvSpPr>
          <p:spPr>
            <a:xfrm>
              <a:off x="344696" y="3272570"/>
              <a:ext cx="3162376" cy="1492055"/>
            </a:xfrm>
            <a:prstGeom prst="roundRect">
              <a:avLst>
                <a:gd name="adj" fmla="val 9596"/>
              </a:avLst>
            </a:prstGeom>
            <a:solidFill>
              <a:srgbClr val="ECF1F4"/>
            </a:solidFill>
            <a:ln w="127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3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rgbClr val="507189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5" name="Rechteck: abgerundete Ecken 248">
              <a:extLst>
                <a:ext uri="{FF2B5EF4-FFF2-40B4-BE49-F238E27FC236}">
                  <a16:creationId xmlns:a16="http://schemas.microsoft.com/office/drawing/2014/main" id="{214B7032-B8AF-A48A-DFBB-F09B53B4309E}"/>
                </a:ext>
              </a:extLst>
            </p:cNvPr>
            <p:cNvSpPr/>
            <p:nvPr/>
          </p:nvSpPr>
          <p:spPr>
            <a:xfrm>
              <a:off x="4470035" y="692873"/>
              <a:ext cx="2950330" cy="1823739"/>
            </a:xfrm>
            <a:prstGeom prst="roundRect">
              <a:avLst>
                <a:gd name="adj" fmla="val 9596"/>
              </a:avLst>
            </a:prstGeom>
            <a:solidFill>
              <a:srgbClr val="ECF1F4"/>
            </a:solidFill>
            <a:ln w="127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3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rgbClr val="507189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8C1E4887-2966-E4AE-261D-90CB5A7281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2707" y="2154817"/>
              <a:ext cx="1725954" cy="1583808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ysDot"/>
              <a:miter lim="800000"/>
            </a:ln>
            <a:effectLst/>
          </p:spPr>
        </p:cxnSp>
        <p:sp>
          <p:nvSpPr>
            <p:cNvPr id="13" name="TextBox 39">
              <a:extLst>
                <a:ext uri="{FF2B5EF4-FFF2-40B4-BE49-F238E27FC236}">
                  <a16:creationId xmlns:a16="http://schemas.microsoft.com/office/drawing/2014/main" id="{67C47EB9-777A-2BB3-34A4-5B8CE6647639}"/>
                </a:ext>
              </a:extLst>
            </p:cNvPr>
            <p:cNvSpPr txBox="1"/>
            <p:nvPr/>
          </p:nvSpPr>
          <p:spPr>
            <a:xfrm>
              <a:off x="5211115" y="1387298"/>
              <a:ext cx="14657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330"/>
              <a:r>
                <a:rPr lang="de-DE" sz="1400" b="1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Alice</a:t>
              </a:r>
            </a:p>
            <a:p>
              <a:pPr algn="ctr" defTabSz="914330"/>
              <a:r>
                <a:rPr lang="de-DE" sz="1400" dirty="0" err="1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encodes</a:t>
              </a:r>
              <a:r>
                <a:rPr lang="de-DE" sz="1400" dirty="0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 </a:t>
              </a:r>
              <a:r>
                <a:rPr lang="de-DE" sz="1400" dirty="0" err="1">
                  <a:solidFill>
                    <a:srgbClr val="000000"/>
                  </a:solidFill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message</a:t>
              </a:r>
              <a:endParaRPr lang="en-GB" sz="1400" dirty="0">
                <a:solidFill>
                  <a:srgbClr val="0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endParaRPr>
            </a:p>
          </p:txBody>
        </p:sp>
        <p:pic>
          <p:nvPicPr>
            <p:cNvPr id="33" name="Grafik 166">
              <a:extLst>
                <a:ext uri="{FF2B5EF4-FFF2-40B4-BE49-F238E27FC236}">
                  <a16:creationId xmlns:a16="http://schemas.microsoft.com/office/drawing/2014/main" id="{D17244AD-5F9B-4DD4-5AE1-36D000A4F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9652" y="800409"/>
              <a:ext cx="668647" cy="668647"/>
            </a:xfrm>
            <a:prstGeom prst="rect">
              <a:avLst/>
            </a:prstGeom>
          </p:spPr>
        </p:pic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7F71D718-2A69-D1A2-0E70-A2A95D2ACE5A}"/>
                </a:ext>
              </a:extLst>
            </p:cNvPr>
            <p:cNvGrpSpPr/>
            <p:nvPr/>
          </p:nvGrpSpPr>
          <p:grpSpPr>
            <a:xfrm>
              <a:off x="10711722" y="4187207"/>
              <a:ext cx="1480278" cy="1134327"/>
              <a:chOff x="8914629" y="3284396"/>
              <a:chExt cx="1480278" cy="1134327"/>
            </a:xfrm>
          </p:grpSpPr>
          <p:sp>
            <p:nvSpPr>
              <p:cNvPr id="12" name="TextBox 35">
                <a:extLst>
                  <a:ext uri="{FF2B5EF4-FFF2-40B4-BE49-F238E27FC236}">
                    <a16:creationId xmlns:a16="http://schemas.microsoft.com/office/drawing/2014/main" id="{34573C94-7CA9-DB74-2042-3F146BEFAD3B}"/>
                  </a:ext>
                </a:extLst>
              </p:cNvPr>
              <p:cNvSpPr txBox="1"/>
              <p:nvPr/>
            </p:nvSpPr>
            <p:spPr>
              <a:xfrm>
                <a:off x="8914629" y="3895503"/>
                <a:ext cx="148027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914330"/>
                <a:r>
                  <a:rPr lang="de-DE" sz="1400" b="1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Bob</a:t>
                </a:r>
              </a:p>
              <a:p>
                <a:pPr algn="ctr" defTabSz="914330"/>
                <a:r>
                  <a:rPr lang="en-GB" sz="1400" dirty="0">
                    <a:solidFill>
                      <a:srgbClr val="000000"/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decodes message</a:t>
                </a:r>
              </a:p>
            </p:txBody>
          </p:sp>
          <p:pic>
            <p:nvPicPr>
              <p:cNvPr id="34" name="Grafik 167">
                <a:extLst>
                  <a:ext uri="{FF2B5EF4-FFF2-40B4-BE49-F238E27FC236}">
                    <a16:creationId xmlns:a16="http://schemas.microsoft.com/office/drawing/2014/main" id="{C8FACA22-C7F7-E948-49A2-46BB4908FE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337035" y="3284396"/>
                <a:ext cx="668646" cy="668646"/>
              </a:xfrm>
              <a:prstGeom prst="rect">
                <a:avLst/>
              </a:prstGeom>
            </p:spPr>
          </p:pic>
        </p:grpSp>
        <p:sp>
          <p:nvSpPr>
            <p:cNvPr id="62" name="TextBox 39">
              <a:extLst>
                <a:ext uri="{FF2B5EF4-FFF2-40B4-BE49-F238E27FC236}">
                  <a16:creationId xmlns:a16="http://schemas.microsoft.com/office/drawing/2014/main" id="{33BFFB40-F501-323F-39EF-C854F6CCAA24}"/>
                </a:ext>
              </a:extLst>
            </p:cNvPr>
            <p:cNvSpPr txBox="1"/>
            <p:nvPr/>
          </p:nvSpPr>
          <p:spPr>
            <a:xfrm>
              <a:off x="338058" y="4119436"/>
              <a:ext cx="15229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Third </a:t>
              </a:r>
              <a:r>
                <a:rPr kumimoji="0" lang="de-DE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party</a:t>
              </a:r>
              <a:r>
                <a:rPr kumimoji="0" lang="de-DE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 </a:t>
              </a:r>
              <a:r>
                <a:rPr kumimoji="0" lang="de-DE" sz="140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creates</a:t>
              </a:r>
              <a:r>
                <a:rPr kumimoji="0" lang="de-DE" sz="1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 Bell </a:t>
              </a:r>
              <a:r>
                <a:rPr kumimoji="0" lang="de-DE" sz="140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ed Hat Text" panose="02010303040201060303" pitchFamily="2" charset="0"/>
                  <a:ea typeface="Red Hat Text" panose="02010303040201060303" pitchFamily="2" charset="0"/>
                  <a:cs typeface="Red Hat Text" panose="02010303040201060303" pitchFamily="2" charset="0"/>
                </a:rPr>
                <a:t>state</a:t>
              </a:r>
              <a:endParaRPr kumimoji="0" lang="en-GB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endParaRPr>
            </a:p>
          </p:txBody>
        </p:sp>
        <p:pic>
          <p:nvPicPr>
            <p:cNvPr id="63" name="Grafik 251">
              <a:extLst>
                <a:ext uri="{FF2B5EF4-FFF2-40B4-BE49-F238E27FC236}">
                  <a16:creationId xmlns:a16="http://schemas.microsoft.com/office/drawing/2014/main" id="{CF7F77AB-4DD8-027C-8C0E-D7951BBE8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1043" y="3507948"/>
              <a:ext cx="701790" cy="701790"/>
            </a:xfrm>
            <a:prstGeom prst="rect">
              <a:avLst/>
            </a:prstGeom>
          </p:spPr>
        </p:pic>
        <p:pic>
          <p:nvPicPr>
            <p:cNvPr id="75" name="Picture 74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45AB02D2-0521-7740-B010-7070C84B0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225"/>
            <a:stretch>
              <a:fillRect/>
            </a:stretch>
          </p:blipFill>
          <p:spPr>
            <a:xfrm>
              <a:off x="1977563" y="3057887"/>
              <a:ext cx="1621182" cy="182880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C7C8DB16-068F-3EAE-E95D-240E8AC73B27}"/>
                    </a:ext>
                  </a:extLst>
                </p:cNvPr>
                <p:cNvSpPr txBox="1"/>
                <p:nvPr/>
              </p:nvSpPr>
              <p:spPr>
                <a:xfrm>
                  <a:off x="1638992" y="3600126"/>
                  <a:ext cx="3318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C7C8DB16-068F-3EAE-E95D-240E8AC73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8992" y="3600126"/>
                  <a:ext cx="331821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85B5542-7752-A06C-B57E-9B09DED1615B}"/>
                    </a:ext>
                  </a:extLst>
                </p:cNvPr>
                <p:cNvSpPr txBox="1"/>
                <p:nvPr/>
              </p:nvSpPr>
              <p:spPr>
                <a:xfrm>
                  <a:off x="1638992" y="4187207"/>
                  <a:ext cx="3318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⟩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85B5542-7752-A06C-B57E-9B09DED161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8992" y="4187207"/>
                  <a:ext cx="331821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Connector 31">
              <a:extLst>
                <a:ext uri="{FF2B5EF4-FFF2-40B4-BE49-F238E27FC236}">
                  <a16:creationId xmlns:a16="http://schemas.microsoft.com/office/drawing/2014/main" id="{DC1E73A8-A47E-3957-EF0C-76CBFA64D922}"/>
                </a:ext>
              </a:extLst>
            </p:cNvPr>
            <p:cNvCxnSpPr>
              <a:cxnSpLocks/>
            </p:cNvCxnSpPr>
            <p:nvPr/>
          </p:nvCxnSpPr>
          <p:spPr>
            <a:xfrm>
              <a:off x="3302707" y="4341389"/>
              <a:ext cx="4501443" cy="456925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ysDot"/>
              <a:miter lim="800000"/>
            </a:ln>
            <a:effectLst/>
          </p:spPr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2C55C6D-D37E-4C00-E37C-A1243F60E14C}"/>
                </a:ext>
              </a:extLst>
            </p:cNvPr>
            <p:cNvSpPr/>
            <p:nvPr/>
          </p:nvSpPr>
          <p:spPr>
            <a:xfrm>
              <a:off x="5707666" y="1914987"/>
              <a:ext cx="474854" cy="4748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ysClr val="windowText" lastClr="000000"/>
                  </a:solidFill>
                </a:rPr>
                <a:t>?</a:t>
              </a:r>
              <a:endParaRPr lang="en-GB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C6E1B3F-3F63-BC69-F656-E1831D4CF0C1}"/>
                </a:ext>
              </a:extLst>
            </p:cNvPr>
            <p:cNvCxnSpPr>
              <a:cxnSpLocks/>
              <a:endCxn id="83" idx="1"/>
            </p:cNvCxnSpPr>
            <p:nvPr/>
          </p:nvCxnSpPr>
          <p:spPr>
            <a:xfrm>
              <a:off x="5028661" y="2152414"/>
              <a:ext cx="67900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31">
              <a:extLst>
                <a:ext uri="{FF2B5EF4-FFF2-40B4-BE49-F238E27FC236}">
                  <a16:creationId xmlns:a16="http://schemas.microsoft.com/office/drawing/2014/main" id="{754DFFA0-0629-FD9E-DE72-EE8255E49B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1525" y="2152414"/>
              <a:ext cx="942625" cy="2057324"/>
            </a:xfrm>
            <a:prstGeom prst="line">
              <a:avLst/>
            </a:prstGeom>
            <a:noFill/>
            <a:ln w="12700" cap="flat" cmpd="sng" algn="ctr">
              <a:solidFill>
                <a:srgbClr val="000000"/>
              </a:solidFill>
              <a:prstDash val="sysDot"/>
              <a:miter lim="800000"/>
            </a:ln>
            <a:effectLst/>
          </p:spPr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EF9188C-FAFE-0E53-F615-359DB5E17846}"/>
                </a:ext>
              </a:extLst>
            </p:cNvPr>
            <p:cNvCxnSpPr>
              <a:cxnSpLocks/>
            </p:cNvCxnSpPr>
            <p:nvPr/>
          </p:nvCxnSpPr>
          <p:spPr>
            <a:xfrm>
              <a:off x="6182520" y="2152414"/>
              <a:ext cx="67900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00" name="Picture 99" descr="A diagram of a diagram&#10;&#10;AI-generated content may be incorrect.">
              <a:extLst>
                <a:ext uri="{FF2B5EF4-FFF2-40B4-BE49-F238E27FC236}">
                  <a16:creationId xmlns:a16="http://schemas.microsoft.com/office/drawing/2014/main" id="{9C5B8C70-7F7A-B392-0A57-EDD5E050B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75"/>
            <a:stretch>
              <a:fillRect/>
            </a:stretch>
          </p:blipFill>
          <p:spPr>
            <a:xfrm>
              <a:off x="7690451" y="3429000"/>
              <a:ext cx="3719104" cy="2596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773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95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Breitbild</PresentationFormat>
  <Paragraphs>46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Montserrat</vt:lpstr>
      <vt:lpstr>Red Hat Text</vt:lpstr>
      <vt:lpstr>Red Hat Text Medium</vt:lpstr>
      <vt:lpstr>Office Theme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Bley</dc:creator>
  <cp:lastModifiedBy>Jonas Bley</cp:lastModifiedBy>
  <cp:revision>7</cp:revision>
  <dcterms:created xsi:type="dcterms:W3CDTF">2026-02-13T13:34:09Z</dcterms:created>
  <dcterms:modified xsi:type="dcterms:W3CDTF">2026-02-14T12:08:49Z</dcterms:modified>
</cp:coreProperties>
</file>